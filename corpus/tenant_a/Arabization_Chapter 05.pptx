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321" r:id="rId4"/>
    <p:sldId id="327" r:id="rId5"/>
    <p:sldId id="310" r:id="rId6"/>
    <p:sldId id="311" r:id="rId7"/>
    <p:sldId id="328" r:id="rId8"/>
    <p:sldId id="322" r:id="rId9"/>
    <p:sldId id="323" r:id="rId10"/>
    <p:sldId id="324" r:id="rId11"/>
    <p:sldId id="312" r:id="rId12"/>
    <p:sldId id="329" r:id="rId13"/>
    <p:sldId id="331" r:id="rId14"/>
    <p:sldId id="332" r:id="rId15"/>
    <p:sldId id="333" r:id="rId16"/>
    <p:sldId id="313" r:id="rId17"/>
    <p:sldId id="334" r:id="rId18"/>
    <p:sldId id="335" r:id="rId19"/>
    <p:sldId id="336" r:id="rId20"/>
    <p:sldId id="337" r:id="rId21"/>
    <p:sldId id="338" r:id="rId22"/>
    <p:sldId id="339" r:id="rId23"/>
    <p:sldId id="330" r:id="rId24"/>
    <p:sldId id="317" r:id="rId25"/>
  </p:sldIdLst>
  <p:sldSz cx="12192000" cy="6858000"/>
  <p:notesSz cx="6858000" cy="9144000"/>
  <p:embeddedFontLs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T Sans Narrow" panose="020B0506020203020204" pitchFamily="34" charset="7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g7bglR1s2VWpb0IllqKVRvYlLu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2"/>
    <p:restoredTop sz="94635"/>
  </p:normalViewPr>
  <p:slideViewPr>
    <p:cSldViewPr snapToGrid="0">
      <p:cViewPr>
        <p:scale>
          <a:sx n="100" d="100"/>
          <a:sy n="100" d="100"/>
        </p:scale>
        <p:origin x="4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e0a73d2e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e0a73d2e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239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85F01EB-CCC9-CA3A-34AE-E722F5F9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B4E50A11-4308-BBED-6AB6-FC0ED89B6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21438614-0B09-54C6-F459-A5F5FA28F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9784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168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7221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0F965ED-395E-2C4B-300B-59FABD99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94A72AEC-BAF2-4CA3-7085-2DFA31C20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B888A8CF-52F1-6711-E255-8FB3AD85D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5589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849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5292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1913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4457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FA77D76-20C9-5E69-9375-40BF437B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C324B432-98EB-BEB1-52EA-215CEA2F0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E46021C0-96F0-436D-60C2-E67E08654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4563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3392374-028A-128E-D96C-1ECDE26A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FB2743F8-D9F0-356F-7590-E834E17FC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43ABCFC0-CF86-B12A-9DE4-E7C385267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6503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0CD9CD6-3F78-1449-12B8-B70E61D6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6551766D-D7A5-22A7-A137-787C875A8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43B43E3F-AA93-AC25-DC6B-E3C10D2AC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8342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CA7481A-A30E-106F-6D08-AF53590D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BE664A95-E9F5-7A3B-491F-EBE4DDA2D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78536677-0EEB-7BEA-3FB0-0823D55D8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0947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326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BF02833-82E6-B87D-0551-40752B5B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496FDD8D-481D-B5DC-CF36-B3C48E1DF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53B1DEFF-15C5-D419-474F-D2CCBA401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894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86ED576-009C-E131-BEB1-C082FF3B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DFC2BB31-6AE3-5BA9-F2B3-4559843DE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4902E521-7FF5-36FB-F9EA-1C739C10E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2514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403480D-5EDE-5F5B-A80B-DE47DDAE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2BAEB911-771A-6A97-3265-2F5688488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F7C202C5-F769-067E-E685-068F4CFF1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3732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0679175-CB3E-F790-64FD-49D258D9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EB7F28C5-BC18-059D-85AE-9A008ABB0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D4C692A2-65AE-64C0-4D01-FCF2562FA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432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8D211B8-2CB6-9409-5201-368A1169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FBB13CD4-BFB9-CF93-5DC7-9CBCB7009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BD96E8F8-8249-FD9F-25EF-7DBB2685F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351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E595FEC-26B4-4858-B020-045B616D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873AAF57-6CBF-5A81-44F1-097B0C7E8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04369430-0022-AFE4-C86A-A2F0D562F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099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15493BA-B781-6996-A965-AE6C9E2D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>
            <a:extLst>
              <a:ext uri="{FF2B5EF4-FFF2-40B4-BE49-F238E27FC236}">
                <a16:creationId xmlns:a16="http://schemas.microsoft.com/office/drawing/2014/main" id="{500840C2-E8CB-C9AD-C70F-ACDBFE5BE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>
            <a:extLst>
              <a:ext uri="{FF2B5EF4-FFF2-40B4-BE49-F238E27FC236}">
                <a16:creationId xmlns:a16="http://schemas.microsoft.com/office/drawing/2014/main" id="{0E42AD6A-F535-E65B-D67B-AA4D78716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627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e0a73d2e1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e0a73d2e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6897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g2ee0a73d2e1_0_640"/>
          <p:cNvCxnSpPr/>
          <p:nvPr/>
        </p:nvCxnSpPr>
        <p:spPr>
          <a:xfrm>
            <a:off x="9343647" y="4235850"/>
            <a:ext cx="7497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g2ee0a73d2e1_0_640"/>
          <p:cNvCxnSpPr/>
          <p:nvPr/>
        </p:nvCxnSpPr>
        <p:spPr>
          <a:xfrm>
            <a:off x="2100047" y="4211002"/>
            <a:ext cx="7497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" name="Google Shape;14;g2ee0a73d2e1_0_640"/>
          <p:cNvGrpSpPr/>
          <p:nvPr/>
        </p:nvGrpSpPr>
        <p:grpSpPr>
          <a:xfrm>
            <a:off x="1338859" y="1362666"/>
            <a:ext cx="9515557" cy="203195"/>
            <a:chOff x="1346429" y="1011300"/>
            <a:chExt cx="6452100" cy="152400"/>
          </a:xfrm>
        </p:grpSpPr>
        <p:cxnSp>
          <p:nvCxnSpPr>
            <p:cNvPr id="15" name="Google Shape;15;g2ee0a73d2e1_0_640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g2ee0a73d2e1_0_640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7" name="Google Shape;17;g2ee0a73d2e1_0_640"/>
          <p:cNvGrpSpPr/>
          <p:nvPr/>
        </p:nvGrpSpPr>
        <p:grpSpPr>
          <a:xfrm>
            <a:off x="1338868" y="5292001"/>
            <a:ext cx="9515557" cy="203195"/>
            <a:chOff x="1346435" y="3969088"/>
            <a:chExt cx="6452100" cy="152400"/>
          </a:xfrm>
        </p:grpSpPr>
        <p:cxnSp>
          <p:nvCxnSpPr>
            <p:cNvPr id="18" name="Google Shape;18;g2ee0a73d2e1_0_640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g2ee0a73d2e1_0_640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" name="Google Shape;20;g2ee0a73d2e1_0_640"/>
          <p:cNvSpPr txBox="1">
            <a:spLocks noGrp="1"/>
          </p:cNvSpPr>
          <p:nvPr>
            <p:ph type="ctrTitle"/>
          </p:nvPr>
        </p:nvSpPr>
        <p:spPr>
          <a:xfrm>
            <a:off x="1338867" y="2335685"/>
            <a:ext cx="9515700" cy="136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2ee0a73d2e1_0_640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941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" name="Google Shape;22;g2ee0a73d2e1_0_64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ee0a73d2e1_0_652"/>
          <p:cNvSpPr/>
          <p:nvPr/>
        </p:nvSpPr>
        <p:spPr>
          <a:xfrm>
            <a:off x="-67" y="3429200"/>
            <a:ext cx="12192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g2ee0a73d2e1_0_652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500" cy="1256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2ee0a73d2e1_0_65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ee0a73d2e1_0_656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g2ee0a73d2e1_0_65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ee0a73d2e1_0_656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g2ee0a73d2e1_0_65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ee0a73d2e1_0_66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2ee0a73d2e1_0_661"/>
          <p:cNvSpPr txBox="1">
            <a:spLocks noGrp="1"/>
          </p:cNvSpPr>
          <p:nvPr>
            <p:ph type="body" idx="1"/>
          </p:nvPr>
        </p:nvSpPr>
        <p:spPr>
          <a:xfrm>
            <a:off x="415600" y="1688233"/>
            <a:ext cx="5333100" cy="440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2ee0a73d2e1_0_661"/>
          <p:cNvSpPr txBox="1">
            <a:spLocks noGrp="1"/>
          </p:cNvSpPr>
          <p:nvPr>
            <p:ph type="body" idx="2"/>
          </p:nvPr>
        </p:nvSpPr>
        <p:spPr>
          <a:xfrm>
            <a:off x="6443200" y="1688233"/>
            <a:ext cx="5333100" cy="440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g2ee0a73d2e1_0_66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e0a73d2e1_0_6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ee0a73d2e1_0_66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ee0a73d2e1_0_66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g2ee0a73d2e1_0_66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g2ee0a73d2e1_0_66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ee0a73d2e1_0_673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847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2ee0a73d2e1_0_6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e0a73d2e1_0_67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g2ee0a73d2e1_0_676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g2ee0a73d2e1_0_676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700" cy="223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51" name="Google Shape;51;g2ee0a73d2e1_0_676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" name="Google Shape;52;g2ee0a73d2e1_0_676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g2ee0a73d2e1_0_67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ee0a73d2e1_0_683"/>
          <p:cNvSpPr txBox="1">
            <a:spLocks noGrp="1"/>
          </p:cNvSpPr>
          <p:nvPr>
            <p:ph type="body" idx="1"/>
          </p:nvPr>
        </p:nvSpPr>
        <p:spPr>
          <a:xfrm>
            <a:off x="415600" y="56409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 Narrow"/>
              <a:buNone/>
              <a:defRPr sz="32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6" name="Google Shape;56;g2ee0a73d2e1_0_68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e0a73d2e1_0_686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2ee0a73d2e1_0_686"/>
          <p:cNvSpPr txBox="1">
            <a:spLocks noGrp="1"/>
          </p:cNvSpPr>
          <p:nvPr>
            <p:ph type="title" hasCustomPrompt="1"/>
          </p:nvPr>
        </p:nvSpPr>
        <p:spPr>
          <a:xfrm>
            <a:off x="415600" y="1739800"/>
            <a:ext cx="11360700" cy="2051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g2ee0a73d2e1_0_686"/>
          <p:cNvSpPr txBox="1">
            <a:spLocks noGrp="1"/>
          </p:cNvSpPr>
          <p:nvPr>
            <p:ph type="body" idx="1"/>
          </p:nvPr>
        </p:nvSpPr>
        <p:spPr>
          <a:xfrm>
            <a:off x="415600" y="3994200"/>
            <a:ext cx="11360700" cy="142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2ee0a73d2e1_0_68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e0a73d2e1_0_69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_HEADER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e0a73d2e1_0_69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ee0a73d2e1_0_69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g2ee0a73d2e1_0_6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ee0a73d2e1_0_6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2ee0a73d2e1_0_6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ee0a73d2e1_0_6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sz="48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g2ee0a73d2e1_0_636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  <a:defRPr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g2ee0a73d2e1_0_6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g2ee0a73d2e1_0_636"/>
          <p:cNvSpPr/>
          <p:nvPr/>
        </p:nvSpPr>
        <p:spPr>
          <a:xfrm>
            <a:off x="9121208" y="76194"/>
            <a:ext cx="3070800" cy="64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Python </a:t>
            </a:r>
            <a:endParaRPr sz="18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" name="Google Shape;10;g2ee0a73d2e1_0_63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223170" y="76194"/>
            <a:ext cx="553132" cy="55105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fmpeg.org/download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e0a73d2e1_0_126"/>
          <p:cNvSpPr txBox="1">
            <a:spLocks noGrp="1"/>
          </p:cNvSpPr>
          <p:nvPr>
            <p:ph type="ctrTitle"/>
          </p:nvPr>
        </p:nvSpPr>
        <p:spPr>
          <a:xfrm>
            <a:off x="1338867" y="1884425"/>
            <a:ext cx="9515700" cy="136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Computer Arabization </a:t>
            </a:r>
            <a:endParaRPr dirty="0"/>
          </a:p>
        </p:txBody>
      </p:sp>
      <p:sp>
        <p:nvSpPr>
          <p:cNvPr id="75" name="Google Shape;75;g2ee0a73d2e1_0_126"/>
          <p:cNvSpPr txBox="1">
            <a:spLocks noGrp="1"/>
          </p:cNvSpPr>
          <p:nvPr>
            <p:ph type="subTitle" idx="1"/>
          </p:nvPr>
        </p:nvSpPr>
        <p:spPr>
          <a:xfrm>
            <a:off x="2863238" y="3802993"/>
            <a:ext cx="64941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Dr. Hend Shaaban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EF9BF-70BA-589D-AE11-C26692EC8BF3}"/>
              </a:ext>
            </a:extLst>
          </p:cNvPr>
          <p:cNvSpPr/>
          <p:nvPr/>
        </p:nvSpPr>
        <p:spPr>
          <a:xfrm>
            <a:off x="8981954" y="0"/>
            <a:ext cx="3210046" cy="85652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002DF-2B6F-3F2D-E4E8-B073557FED11}"/>
              </a:ext>
            </a:extLst>
          </p:cNvPr>
          <p:cNvSpPr txBox="1"/>
          <p:nvPr/>
        </p:nvSpPr>
        <p:spPr>
          <a:xfrm>
            <a:off x="740596" y="3131283"/>
            <a:ext cx="106971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Chapter 5: Speech</a:t>
            </a:r>
            <a:r>
              <a:rPr lang="en-US" sz="2800" b="1" dirty="0"/>
              <a:t> </a:t>
            </a:r>
            <a:r>
              <a:rPr lang="en-US" sz="2800" dirty="0"/>
              <a:t>Recognition &amp; Text-to-Speech (TTS) in Arabic 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 algn="just">
              <a:buFont typeface="Wingdings" pitchFamily="2" charset="2"/>
              <a:buChar char="Ø"/>
            </a:pPr>
            <a:r>
              <a:rPr lang="en-US" sz="2200" b="1" dirty="0">
                <a:solidFill>
                  <a:schemeClr val="accent3"/>
                </a:solidFill>
              </a:rPr>
              <a:t>Arabic Speech Recognition (ASR): </a:t>
            </a:r>
            <a:r>
              <a:rPr lang="en-US" sz="2200" dirty="0"/>
              <a:t>The process of converting spoken Arabic language into written text using machine learning and signal processing.</a:t>
            </a:r>
          </a:p>
          <a:p>
            <a:pPr marL="571500" indent="-342900" algn="just">
              <a:buFont typeface="Wingdings" pitchFamily="2" charset="2"/>
              <a:buChar char="Ø"/>
            </a:pPr>
            <a:r>
              <a:rPr lang="en-US" sz="2200" b="1" dirty="0">
                <a:solidFill>
                  <a:schemeClr val="accent3"/>
                </a:solidFill>
              </a:rPr>
              <a:t>Text-to-Speech (TTS):</a:t>
            </a:r>
            <a:r>
              <a:rPr lang="en-US" sz="2200" dirty="0"/>
              <a:t> The process of converting written Arabic text into natural-sounding human-like speech using linguistic and acoustic models.</a:t>
            </a:r>
          </a:p>
          <a:p>
            <a:pPr marL="571500" indent="-342900" algn="just">
              <a:buFont typeface="Wingdings" pitchFamily="2" charset="2"/>
              <a:buChar char="Ø"/>
            </a:pPr>
            <a:r>
              <a:rPr lang="en-US" sz="2200" b="1" dirty="0">
                <a:solidFill>
                  <a:schemeClr val="accent3"/>
                </a:solidFill>
              </a:rPr>
              <a:t>Why It Matters: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Accessibility for the visually impaired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Voice assistants (e.g., Siri, Alexa)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Educational tools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Automated transcription and call centers</a:t>
            </a:r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Introduction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 algn="just"/>
            <a:r>
              <a:rPr lang="en-US" b="1" dirty="0">
                <a:solidFill>
                  <a:schemeClr val="accent3"/>
                </a:solidFill>
              </a:rPr>
              <a:t>Cursive Script: </a:t>
            </a:r>
            <a:r>
              <a:rPr lang="en-US" dirty="0"/>
              <a:t>Characters change shape based on position.</a:t>
            </a:r>
          </a:p>
          <a:p>
            <a:pPr marL="228600" indent="0" algn="just"/>
            <a:r>
              <a:rPr lang="en-US" b="1" dirty="0">
                <a:solidFill>
                  <a:schemeClr val="accent3"/>
                </a:solidFill>
              </a:rPr>
              <a:t>Diacritics:</a:t>
            </a:r>
            <a:r>
              <a:rPr lang="en-US" dirty="0"/>
              <a:t> Affect pronunciation and meaning; often omitted in text.</a:t>
            </a:r>
          </a:p>
          <a:p>
            <a:pPr marL="228600" indent="0" algn="just"/>
            <a:r>
              <a:rPr lang="en-US" b="1" dirty="0">
                <a:solidFill>
                  <a:schemeClr val="accent3"/>
                </a:solidFill>
              </a:rPr>
              <a:t>Dialects:</a:t>
            </a:r>
            <a:r>
              <a:rPr lang="en-US" dirty="0"/>
              <a:t> Many regional varieties like Egyptian, Gulf, Levantine.</a:t>
            </a:r>
          </a:p>
          <a:p>
            <a:pPr marL="228600" indent="0" algn="just"/>
            <a:r>
              <a:rPr lang="en-US" b="1" dirty="0">
                <a:solidFill>
                  <a:schemeClr val="accent3"/>
                </a:solidFill>
              </a:rPr>
              <a:t>Phonetic Complexity: </a:t>
            </a:r>
            <a:r>
              <a:rPr lang="en-US" dirty="0"/>
              <a:t>Arabic includes unique sounds such as ‘</a:t>
            </a:r>
            <a:r>
              <a:rPr lang="ar-AE" dirty="0"/>
              <a:t>’ غ </a:t>
            </a:r>
            <a:r>
              <a:rPr lang="en-US" dirty="0"/>
              <a:t>and ‘</a:t>
            </a:r>
            <a:r>
              <a:rPr lang="ar-AE" dirty="0"/>
              <a:t>’ ع</a:t>
            </a:r>
            <a:r>
              <a:rPr lang="en-US" dirty="0"/>
              <a:t>.</a:t>
            </a:r>
            <a:endParaRPr lang="ar-AE" dirty="0"/>
          </a:p>
          <a:p>
            <a:pPr marL="228600" indent="0" algn="just"/>
            <a:r>
              <a:rPr lang="en-US" b="1" dirty="0">
                <a:solidFill>
                  <a:schemeClr val="accent3"/>
                </a:solidFill>
              </a:rPr>
              <a:t>Right-to-Left Orientation: </a:t>
            </a:r>
            <a:r>
              <a:rPr lang="en-US" dirty="0"/>
              <a:t>Affects processing and alignment.</a:t>
            </a:r>
          </a:p>
          <a:p>
            <a:pPr marL="228600" indent="0" algn="just"/>
            <a:r>
              <a:rPr lang="en-US" b="1" dirty="0">
                <a:solidFill>
                  <a:schemeClr val="accent3"/>
                </a:solidFill>
              </a:rPr>
              <a:t>Sparse Resources: </a:t>
            </a:r>
            <a:r>
              <a:rPr lang="en-US" dirty="0"/>
              <a:t>Less open-source data compared to English.</a:t>
            </a:r>
          </a:p>
          <a:p>
            <a:pPr marL="571500" indent="-342900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Challenges of Arabic in Speech Technologies</a:t>
            </a:r>
          </a:p>
          <a:p>
            <a:endParaRPr lang="en-US" sz="2800" b="1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042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4174C14-F051-9491-408A-C92B5F6D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135FA953-9187-A594-1C92-27AECABAD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685800" indent="-457200">
              <a:buFont typeface="+mj-lt"/>
              <a:buAutoNum type="arabicPeriod"/>
            </a:pPr>
            <a:r>
              <a:rPr lang="en-US" b="1" dirty="0">
                <a:solidFill>
                  <a:schemeClr val="accent3"/>
                </a:solidFill>
              </a:rPr>
              <a:t>Workflow</a:t>
            </a:r>
            <a:br>
              <a:rPr lang="en-US" b="1" dirty="0">
                <a:solidFill>
                  <a:schemeClr val="accent3"/>
                </a:solidFill>
              </a:rPr>
            </a:br>
            <a:br>
              <a:rPr lang="en-US" b="1" dirty="0">
                <a:solidFill>
                  <a:schemeClr val="accent3"/>
                </a:solidFill>
              </a:rPr>
            </a:br>
            <a:r>
              <a:rPr lang="en-US" b="1" dirty="0"/>
              <a:t>Audio Input</a:t>
            </a:r>
            <a:r>
              <a:rPr lang="en-US" dirty="0"/>
              <a:t> → Feature Extraction (MFCC) → Acoustic Model → </a:t>
            </a:r>
          </a:p>
          <a:p>
            <a:r>
              <a:rPr lang="en-US" dirty="0"/>
              <a:t>		Language Model → Text Output</a:t>
            </a:r>
          </a:p>
          <a:p>
            <a:pPr marL="228600" indent="0"/>
            <a:endParaRPr lang="en-US" b="1" dirty="0">
              <a:solidFill>
                <a:schemeClr val="accent3"/>
              </a:solidFill>
            </a:endParaRPr>
          </a:p>
          <a:p>
            <a:pPr marL="685800" indent="-457200">
              <a:buFont typeface="+mj-lt"/>
              <a:buAutoNum type="arabicPeriod" startAt="2"/>
            </a:pPr>
            <a:r>
              <a:rPr lang="en-US" b="1" dirty="0">
                <a:solidFill>
                  <a:schemeClr val="accent3"/>
                </a:solidFill>
              </a:rPr>
              <a:t>Tools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Google Speech-to-Text API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Mozilla </a:t>
            </a:r>
            <a:r>
              <a:rPr lang="en-US" dirty="0" err="1"/>
              <a:t>DeepSpeech</a:t>
            </a:r>
            <a:r>
              <a:rPr lang="en-US" dirty="0"/>
              <a:t> (custom Arabic models)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Kaldi Toolkit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CMU Sphinx (basic Arabic support)</a:t>
            </a:r>
          </a:p>
          <a:p>
            <a:pPr marL="685800" indent="-457200">
              <a:buFont typeface="+mj-lt"/>
              <a:buAutoNum type="arabicPeriod" startAt="2"/>
            </a:pPr>
            <a:endParaRPr lang="en-US" b="1" dirty="0">
              <a:solidFill>
                <a:schemeClr val="accent3"/>
              </a:solidFill>
            </a:endParaRPr>
          </a:p>
          <a:p>
            <a:r>
              <a:rPr lang="en-US" b="1" dirty="0"/>
              <a:t>		</a:t>
            </a:r>
            <a:endParaRPr lang="en-US" sz="2400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A833AA31-40FA-F24B-CCC3-A4350932C04F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Automatic Speech Recognition (ASR)</a:t>
            </a:r>
          </a:p>
          <a:p>
            <a:endParaRPr lang="en-US" sz="2800" b="1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488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229549"/>
            <a:ext cx="11251956" cy="5480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</a:rPr>
              <a:t>Code Example: </a:t>
            </a:r>
            <a:r>
              <a:rPr lang="en-US" b="1" dirty="0"/>
              <a:t>Using Wav2Vec2 with Hugging Face</a:t>
            </a:r>
          </a:p>
          <a:p>
            <a:endParaRPr lang="en-US" dirty="0"/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Automatic Speech Recognition (ASR)</a:t>
            </a:r>
          </a:p>
          <a:p>
            <a:endParaRPr lang="en-US" sz="2800" b="1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7A1742-87CE-DD34-8257-08C37BA5B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326" y="1757548"/>
            <a:ext cx="8438573" cy="507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6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indent="-457200">
              <a:buAutoNum type="arabicPeriod"/>
            </a:pPr>
            <a:r>
              <a:rPr lang="en-US" b="1" dirty="0">
                <a:solidFill>
                  <a:schemeClr val="accent3"/>
                </a:solidFill>
              </a:rPr>
              <a:t>Workflow</a:t>
            </a:r>
          </a:p>
          <a:p>
            <a:pPr marL="228600" indent="0"/>
            <a:r>
              <a:rPr lang="en-US" b="1" dirty="0"/>
              <a:t>	Text Input</a:t>
            </a:r>
            <a:r>
              <a:rPr lang="en-US" dirty="0"/>
              <a:t> → Text Normalization → Phoneme Conversion → 			Prosody Modeling → Audio Output</a:t>
            </a:r>
            <a:endParaRPr lang="en-US" b="1" dirty="0">
              <a:solidFill>
                <a:schemeClr val="accent3"/>
              </a:solidFill>
            </a:endParaRPr>
          </a:p>
          <a:p>
            <a:pPr marL="685800" indent="-457200">
              <a:buFont typeface="+mj-lt"/>
              <a:buAutoNum type="arabicPeriod" startAt="2"/>
            </a:pPr>
            <a:r>
              <a:rPr lang="en-US" b="1" dirty="0">
                <a:solidFill>
                  <a:schemeClr val="accent3"/>
                </a:solidFill>
              </a:rPr>
              <a:t>Tools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Google Cloud TTS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IBM Watson TTS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ResponsiveVoice</a:t>
            </a:r>
            <a:r>
              <a:rPr lang="en-US" sz="2400" dirty="0"/>
              <a:t>, </a:t>
            </a:r>
            <a:r>
              <a:rPr lang="en-US" sz="2400" dirty="0" err="1"/>
              <a:t>Acapela</a:t>
            </a:r>
            <a:r>
              <a:rPr lang="en-US" sz="2400" dirty="0"/>
              <a:t> Group (commercial)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Mozilla TTS with Arabic support</a:t>
            </a:r>
            <a:endParaRPr lang="ar-SA" b="1" dirty="0">
              <a:solidFill>
                <a:schemeClr val="accent3"/>
              </a:solidFill>
            </a:endParaRPr>
          </a:p>
          <a:p>
            <a:pPr marL="228600" indent="0"/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Text-to-Speech (TTS)</a:t>
            </a:r>
          </a:p>
          <a:p>
            <a:endParaRPr lang="en-US" sz="2800" b="1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758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1D53C2D-06FD-2098-3680-3331AF58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98CC9284-96E5-E537-89A9-9A9C5556B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indent="-457200">
              <a:buFont typeface="+mj-lt"/>
              <a:buAutoNum type="arabicPeriod" startAt="3"/>
            </a:pPr>
            <a:r>
              <a:rPr lang="en-US" b="1" dirty="0">
                <a:solidFill>
                  <a:schemeClr val="accent3"/>
                </a:solidFill>
              </a:rPr>
              <a:t>Code Example: Using Google Text-to-Speech (</a:t>
            </a:r>
            <a:r>
              <a:rPr lang="en-US" b="1" dirty="0" err="1">
                <a:solidFill>
                  <a:schemeClr val="accent3"/>
                </a:solidFill>
              </a:rPr>
              <a:t>gTTS</a:t>
            </a:r>
            <a:r>
              <a:rPr lang="en-US" b="1" dirty="0">
                <a:solidFill>
                  <a:schemeClr val="accent3"/>
                </a:solidFill>
              </a:rPr>
              <a:t>)</a:t>
            </a:r>
          </a:p>
          <a:p>
            <a:pPr marL="685800" indent="-457200">
              <a:buAutoNum type="arabicPeriod" startAt="2"/>
            </a:pP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F3E98E59-C1C0-C9CC-D290-2739C67980B1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Text-to-Speech (TTS)</a:t>
            </a:r>
          </a:p>
          <a:p>
            <a:endParaRPr lang="en-US" sz="2800" b="1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450EE-E44A-4E0D-4258-71A588D1B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371" y="2746861"/>
            <a:ext cx="73025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8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Common Voice Arabic (Mozilla)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ArabicSpeech</a:t>
            </a:r>
            <a:r>
              <a:rPr lang="en-US" b="1" dirty="0"/>
              <a:t> Corpus (</a:t>
            </a:r>
            <a:r>
              <a:rPr lang="en-US" b="1" dirty="0" err="1"/>
              <a:t>OpenSLR</a:t>
            </a:r>
            <a:r>
              <a:rPr lang="en-US" b="1" dirty="0"/>
              <a:t>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MGB-3 Arabic Broadcast Challenge Dataset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KALDI Arabic Corpus</a:t>
            </a:r>
            <a:endParaRPr lang="en-US" dirty="0"/>
          </a:p>
          <a:p>
            <a:pPr marL="685800" indent="-457200">
              <a:buFont typeface="+mj-lt"/>
              <a:buAutoNum type="arabicPeriod"/>
            </a:pPr>
            <a:endParaRPr lang="ar-AE" sz="2000" dirty="0"/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Datasets for Arabic Speech</a:t>
            </a:r>
          </a:p>
        </p:txBody>
      </p:sp>
    </p:spTree>
    <p:extLst>
      <p:ext uri="{BB962C8B-B14F-4D97-AF65-F5344CB8AC3E}">
        <p14:creationId xmlns:p14="http://schemas.microsoft.com/office/powerpoint/2010/main" val="62297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Education &amp; e-learning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home assistants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service 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Accessibility for visually impaired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 transcription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42531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</a:rPr>
              <a:t>Word Error Rate (WER) </a:t>
            </a:r>
            <a:r>
              <a:rPr lang="en-US" sz="2800" dirty="0"/>
              <a:t>= (Substitutions + Deletions + Insertions) / Total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Character Error Rate (CER) </a:t>
            </a:r>
            <a:r>
              <a:rPr lang="en-US" sz="2800" dirty="0"/>
              <a:t>= Similar calculation at character level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</a:rPr>
              <a:t>Code Example:</a:t>
            </a:r>
            <a:endParaRPr lang="ar-SA" b="1" dirty="0">
              <a:solidFill>
                <a:schemeClr val="accent3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3"/>
              </a:solidFill>
            </a:endParaRP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Evaluation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99667B-3E28-2E44-ACB7-A9B1F69F7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94" y="4099411"/>
            <a:ext cx="7442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0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1. </a:t>
            </a:r>
            <a:r>
              <a:rPr lang="en-US" b="1" dirty="0">
                <a:solidFill>
                  <a:schemeClr val="accent3"/>
                </a:solidFill>
              </a:rPr>
              <a:t>Preprocessing for ASR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Enhancing Accuracy with 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D2F0D1-1833-75E9-FDE0-3F8D920C1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890" y="2645261"/>
            <a:ext cx="74422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7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9683AF5-80AF-4DAC-D0E4-DEFC95CD5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89711BE8-979B-B21A-9A86-517540F40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indent="-457200">
              <a:buFont typeface="+mj-lt"/>
              <a:buAutoNum type="arabicPeriod" startAt="2"/>
            </a:pPr>
            <a:r>
              <a:rPr lang="en-US" b="1" dirty="0">
                <a:solidFill>
                  <a:schemeClr val="accent3"/>
                </a:solidFill>
              </a:rPr>
              <a:t>Preprocessing for TTS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Text normalization (remove diacritics)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Split complex sentences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Proper punctuation for better prosody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8B615B8D-2164-4A96-BC95-A57B100879EF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Enhancing Accuracy with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8281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8BF824C-3A59-03B2-3869-FB950CF0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2BF66B1A-3A18-E08B-FBAE-7F48CB89B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0"/>
            <a:ext cx="11251956" cy="500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You need a WAV file with clear Arabic speech for this example to work.</a:t>
            </a:r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CF138A4B-508F-49FD-5ECE-62EB13AB4726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Speech Recognition Example (Using </a:t>
            </a:r>
            <a:r>
              <a:rPr lang="en-US" sz="2400" dirty="0" err="1">
                <a:solidFill>
                  <a:schemeClr val="accent1"/>
                </a:solidFill>
                <a:latin typeface="Times New Roman"/>
                <a:cs typeface="Times New Roman"/>
              </a:rPr>
              <a:t>SpeechRecognition</a:t>
            </a:r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492D8-9892-C249-9BDB-64A2F50DF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88" y="1840674"/>
            <a:ext cx="9863874" cy="40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4F6A742-1BA0-68D4-23D5-506E80B9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8F5A6DE6-1AA7-F689-7D33-091616771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marR="0" lvl="1" indent="-342900" algn="l" rtl="1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endParaRPr lang="ar-SA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This will generate an MP3 file that reads the Arabic text aloud.</a:t>
            </a:r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4604990E-D483-B581-BA85-707A85601566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Text-to-Speech Example (Using </a:t>
            </a:r>
            <a:r>
              <a:rPr lang="en-US" sz="2400" dirty="0" err="1">
                <a:solidFill>
                  <a:schemeClr val="accent1"/>
                </a:solidFill>
                <a:latin typeface="Times New Roman"/>
                <a:cs typeface="Times New Roman"/>
              </a:rPr>
              <a:t>gTTS</a:t>
            </a:r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B1F75B-7D08-2167-9ACE-C9E65E78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597" y="1752061"/>
            <a:ext cx="7772400" cy="38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4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86271AA-E744-8976-AD49-1558BF92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253A7DFD-DC6D-A335-D5B7-2E911AD47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5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287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Arabic text needs reshaping and bidi support when displayed in visual interfaces like matplotlib, </a:t>
            </a:r>
            <a:r>
              <a:rPr lang="en-US" dirty="0" err="1"/>
              <a:t>tkinter</a:t>
            </a:r>
            <a:r>
              <a:rPr lang="en-US" dirty="0"/>
              <a:t>, etc.</a:t>
            </a:r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50C96586-6143-58DB-29FE-3D90A02EAB55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Arabic Text Display (Right-to-Left Support for GUIs or Plots)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0AD237-727C-62C9-B633-77F6D45B2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261" y="3010476"/>
            <a:ext cx="7536637" cy="315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4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</a:rPr>
              <a:t>You can combine the previous examples into a simple app that: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Listens to Arabic speech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Converts it to text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Reads the text aloud using TTS</a:t>
            </a:r>
          </a:p>
          <a:p>
            <a:pPr marL="228600" indent="0"/>
            <a:endParaRPr lang="en-US" dirty="0"/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Mini Project: Speak Arabic and Convert to Text + Back to Audio</a:t>
            </a:r>
          </a:p>
        </p:txBody>
      </p:sp>
    </p:spTree>
    <p:extLst>
      <p:ext uri="{BB962C8B-B14F-4D97-AF65-F5344CB8AC3E}">
        <p14:creationId xmlns:p14="http://schemas.microsoft.com/office/powerpoint/2010/main" val="3203354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0912E7C-992A-5D02-7C74-F9FD4BB4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C5682373-8715-79F6-9423-888CBD850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Wingdings" pitchFamily="2" charset="2"/>
              <a:buChar char="ü"/>
            </a:pPr>
            <a:r>
              <a:rPr lang="en-US" b="1" dirty="0">
                <a:solidFill>
                  <a:schemeClr val="accent3"/>
                </a:solidFill>
              </a:rPr>
              <a:t>Arabic Speech-to-Text + Text-to-Speech App </a:t>
            </a:r>
            <a:r>
              <a:rPr lang="en-US" dirty="0"/>
              <a:t>using Python. It will: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Record or load Arabic speech and convert it to text.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 the transcribed text.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Convert that Arabic text back into speech.</a:t>
            </a:r>
          </a:p>
          <a:p>
            <a:pPr marL="228600" indent="0"/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896D5E22-6B01-6006-C134-CCD15F28FE2E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Mini Project: Speak Arabic and Convert to Text + Back to Audio</a:t>
            </a:r>
          </a:p>
        </p:txBody>
      </p:sp>
    </p:spTree>
    <p:extLst>
      <p:ext uri="{BB962C8B-B14F-4D97-AF65-F5344CB8AC3E}">
        <p14:creationId xmlns:p14="http://schemas.microsoft.com/office/powerpoint/2010/main" val="371338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2394103-ED0C-5EC6-2517-42737ACA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7C6A8C91-51B6-8BC5-BAF6-4C1593D8B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3"/>
                </a:solidFill>
              </a:rPr>
              <a:t>Prerequisites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Make sure you have these Python packages installed:</a:t>
            </a:r>
          </a:p>
          <a:p>
            <a:pPr marL="228600" indent="0"/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Also install </a:t>
            </a:r>
            <a:r>
              <a:rPr lang="en-US" dirty="0" err="1"/>
              <a:t>ffmpeg</a:t>
            </a:r>
            <a:r>
              <a:rPr lang="en-US" dirty="0"/>
              <a:t> or mpg123 if you’re using .mp3 playback: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 Windows: </a:t>
            </a:r>
            <a:r>
              <a:rPr lang="en-US" dirty="0">
                <a:hlinkClick r:id="rId3"/>
              </a:rPr>
              <a:t>ffmpeg.org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 Mac: brew install </a:t>
            </a:r>
            <a:r>
              <a:rPr lang="en-US" dirty="0" err="1"/>
              <a:t>ffmpeg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 Linux: </a:t>
            </a:r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ffmpeg</a:t>
            </a:r>
            <a:endParaRPr lang="en-US" dirty="0"/>
          </a:p>
          <a:p>
            <a:pPr>
              <a:buNone/>
            </a:pPr>
            <a:r>
              <a:rPr lang="en-US" b="1" dirty="0">
                <a:solidFill>
                  <a:schemeClr val="accent3"/>
                </a:solidFill>
              </a:rPr>
              <a:t>Files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Arabic audio file (e.g., </a:t>
            </a:r>
            <a:r>
              <a:rPr lang="en-US" dirty="0" err="1"/>
              <a:t>arabic_input.wav</a:t>
            </a:r>
            <a:r>
              <a:rPr lang="en-US" dirty="0"/>
              <a:t>) with clear speech.</a:t>
            </a:r>
          </a:p>
          <a:p>
            <a:pPr marL="228600" indent="0"/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02E599A5-860B-61B8-E7CB-5CD293667F87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Mini Project: Speak Arabic and Convert to Text + Back to Audio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359E1-2601-E505-3DC2-A60BFBD1C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788" y="2710213"/>
            <a:ext cx="7772400" cy="5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17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D88361B-92DE-4850-F0B4-B812D6F3B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DF184B01-1794-F5F5-FBBD-B247FCD05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1D7A12EB-A2AC-3784-FD08-0334DEF10AFC}"/>
              </a:ext>
            </a:extLst>
          </p:cNvPr>
          <p:cNvSpPr/>
          <p:nvPr/>
        </p:nvSpPr>
        <p:spPr>
          <a:xfrm>
            <a:off x="414362" y="327547"/>
            <a:ext cx="11155338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Speak Arabic and Convert to Text + Back to Audio: Full Python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1135C-F06D-B84D-C207-56025EBC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1485900"/>
            <a:ext cx="5562600" cy="537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0604FE-BEF9-67B0-71FD-33027213D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956" y="1485900"/>
            <a:ext cx="5575544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85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FBD9A44-EC9B-5F69-7B22-2E9BC128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F020BBD0-C39A-09EA-9F7D-75F915368D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42503BD1-BE4F-5EDA-F174-62DA7AD7009D}"/>
              </a:ext>
            </a:extLst>
          </p:cNvPr>
          <p:cNvSpPr/>
          <p:nvPr/>
        </p:nvSpPr>
        <p:spPr>
          <a:xfrm>
            <a:off x="414362" y="327547"/>
            <a:ext cx="11155338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Speak Arabic and Convert to Text + Back to Audio: Full Python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6374D-D344-0DCD-FE16-6F8E0E40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866900"/>
            <a:ext cx="81343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5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238BFBF-BB84-E478-56E0-C0065663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AA18A699-4C4D-EA96-6E13-43453BA10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If your </a:t>
            </a:r>
            <a:r>
              <a:rPr lang="en-US" dirty="0" err="1"/>
              <a:t>arabic_input.wav</a:t>
            </a:r>
            <a:r>
              <a:rPr lang="en-US" dirty="0"/>
              <a:t> file contains:</a:t>
            </a:r>
          </a:p>
          <a:p>
            <a:pPr marL="228600" indent="0"/>
            <a:r>
              <a:rPr lang="en-US" dirty="0"/>
              <a:t>		"</a:t>
            </a:r>
            <a:r>
              <a:rPr lang="ar-AE" dirty="0"/>
              <a:t> مرحبا بك في قسم الذكاء الاصطناعي</a:t>
            </a:r>
            <a:r>
              <a:rPr lang="en-US" dirty="0"/>
              <a:t> </a:t>
            </a:r>
            <a:r>
              <a:rPr lang="ar-AE" dirty="0"/>
              <a:t>"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You'll see: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EF23EA9E-2966-8ED8-4C6D-54375DEC6E8D}"/>
              </a:ext>
            </a:extLst>
          </p:cNvPr>
          <p:cNvSpPr/>
          <p:nvPr/>
        </p:nvSpPr>
        <p:spPr>
          <a:xfrm>
            <a:off x="414362" y="327547"/>
            <a:ext cx="11155338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Speak Arabic and Convert to Text + Back to Audio: Output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F058D-BBFE-78DC-6648-B22A4C3A0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3429000"/>
            <a:ext cx="60706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188FC71-0744-EA03-6FFF-396BD568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1E696170-0872-E3D9-31E7-E0F5F22E1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a GUI with </a:t>
            </a:r>
            <a:r>
              <a:rPr lang="en-US" dirty="0" err="1"/>
              <a:t>tkinter</a:t>
            </a:r>
            <a:r>
              <a:rPr lang="en-US" dirty="0"/>
              <a:t> to record live audio.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PyAudio</a:t>
            </a:r>
            <a:r>
              <a:rPr lang="en-US" dirty="0"/>
              <a:t> or </a:t>
            </a:r>
            <a:r>
              <a:rPr lang="en-US" dirty="0" err="1"/>
              <a:t>sounddevice</a:t>
            </a:r>
            <a:r>
              <a:rPr lang="en-US" dirty="0"/>
              <a:t> to capture mic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spell-checking or NLP post-processing (e.g., </a:t>
            </a:r>
            <a:r>
              <a:rPr lang="en-US" dirty="0" err="1"/>
              <a:t>CAMeL</a:t>
            </a:r>
            <a:r>
              <a:rPr lang="en-US" dirty="0"/>
              <a:t> Tools).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22CED09C-88D2-69EE-6F6D-9C4AB4FC6917}"/>
              </a:ext>
            </a:extLst>
          </p:cNvPr>
          <p:cNvSpPr/>
          <p:nvPr/>
        </p:nvSpPr>
        <p:spPr>
          <a:xfrm>
            <a:off x="414362" y="327547"/>
            <a:ext cx="11155338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Bonus Ideas</a:t>
            </a:r>
          </a:p>
        </p:txBody>
      </p:sp>
    </p:spTree>
    <p:extLst>
      <p:ext uri="{BB962C8B-B14F-4D97-AF65-F5344CB8AC3E}">
        <p14:creationId xmlns:p14="http://schemas.microsoft.com/office/powerpoint/2010/main" val="1511769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FBD5A0D-B962-F4A0-30E0-712B9F6C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>
            <a:extLst>
              <a:ext uri="{FF2B5EF4-FFF2-40B4-BE49-F238E27FC236}">
                <a16:creationId xmlns:a16="http://schemas.microsoft.com/office/drawing/2014/main" id="{DBC6A665-96E5-8A09-E930-2FA5A28EF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9544" y="1752061"/>
            <a:ext cx="11251956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Arabic dialect-aware ASR models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Emotion-aware TTS systems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Real-time Arabic speech translators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Arabic </a:t>
            </a:r>
            <a:r>
              <a:rPr lang="en-US" dirty="0" err="1"/>
              <a:t>speechbots</a:t>
            </a:r>
            <a:r>
              <a:rPr lang="en-US" dirty="0"/>
              <a:t> in education &amp; healthcare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9" name="Google Shape;89;g2ee0a73d2e1_0_746">
            <a:extLst>
              <a:ext uri="{FF2B5EF4-FFF2-40B4-BE49-F238E27FC236}">
                <a16:creationId xmlns:a16="http://schemas.microsoft.com/office/drawing/2014/main" id="{7C565238-90E7-B493-1766-1E49740EEBF2}"/>
              </a:ext>
            </a:extLst>
          </p:cNvPr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982511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e0a73d2e1_0_746"/>
          <p:cNvSpPr txBox="1">
            <a:spLocks noGrp="1"/>
          </p:cNvSpPr>
          <p:nvPr>
            <p:ph type="body" idx="1"/>
          </p:nvPr>
        </p:nvSpPr>
        <p:spPr>
          <a:xfrm>
            <a:off x="749544" y="1514555"/>
            <a:ext cx="11251956" cy="501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 algn="just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/>
                </a:solidFill>
              </a:rPr>
              <a:t>Arabic ASR and TTS are evolving with AI and deep learning</a:t>
            </a:r>
          </a:p>
          <a:p>
            <a:pPr marL="571500" indent="-342900" algn="just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/>
                </a:solidFill>
              </a:rPr>
              <a:t>High potential for accessibility, education, and smart applications</a:t>
            </a:r>
          </a:p>
          <a:p>
            <a:pPr marL="571500" indent="-342900" algn="just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/>
                </a:solidFill>
              </a:rPr>
              <a:t>Still faces linguistic and technical challenges, especially in dialect handling</a:t>
            </a:r>
          </a:p>
          <a:p>
            <a:pPr marL="685800" indent="-457200" algn="just">
              <a:buFont typeface="+mj-lt"/>
              <a:buAutoNum type="arabicPeriod"/>
            </a:pPr>
            <a:endParaRPr lang="en-US" sz="2000" b="1" dirty="0">
              <a:solidFill>
                <a:schemeClr val="accent3"/>
              </a:solidFill>
            </a:endParaRPr>
          </a:p>
          <a:p>
            <a:pPr marL="228600" indent="0"/>
            <a:r>
              <a:rPr lang="en-US" sz="2000" b="1" dirty="0">
                <a:solidFill>
                  <a:schemeClr val="accent3"/>
                </a:solidFill>
              </a:rPr>
              <a:t>	</a:t>
            </a:r>
          </a:p>
          <a:p>
            <a:pPr marL="228600" indent="0"/>
            <a:endParaRPr lang="en-US" sz="2000" b="1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89" name="Google Shape;89;g2ee0a73d2e1_0_746"/>
          <p:cNvSpPr/>
          <p:nvPr/>
        </p:nvSpPr>
        <p:spPr>
          <a:xfrm>
            <a:off x="846162" y="327547"/>
            <a:ext cx="10419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2352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10591</TotalTime>
  <Words>779</Words>
  <Application>Microsoft Macintosh PowerPoint</Application>
  <PresentationFormat>Widescreen</PresentationFormat>
  <Paragraphs>129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Wingdings</vt:lpstr>
      <vt:lpstr>Open Sans</vt:lpstr>
      <vt:lpstr>Arial</vt:lpstr>
      <vt:lpstr>PT Sans Narrow</vt:lpstr>
      <vt:lpstr>Times New Roman</vt:lpstr>
      <vt:lpstr>Tropic</vt:lpstr>
      <vt:lpstr>  Computer Arabization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Computer Arabization </dc:title>
  <dc:creator>Faisal Zamir</dc:creator>
  <cp:lastModifiedBy>Mac</cp:lastModifiedBy>
  <cp:revision>19</cp:revision>
  <dcterms:created xsi:type="dcterms:W3CDTF">2021-11-08T00:20:31Z</dcterms:created>
  <dcterms:modified xsi:type="dcterms:W3CDTF">2025-05-16T07:51:26Z</dcterms:modified>
</cp:coreProperties>
</file>