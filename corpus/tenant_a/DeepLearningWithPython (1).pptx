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4" r:id="rId3"/>
    <p:sldId id="287" r:id="rId4"/>
    <p:sldId id="289" r:id="rId5"/>
    <p:sldId id="260" r:id="rId6"/>
    <p:sldId id="275" r:id="rId7"/>
    <p:sldId id="261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5" r:id="rId17"/>
    <p:sldId id="286" r:id="rId18"/>
    <p:sldId id="262" r:id="rId19"/>
    <p:sldId id="263" r:id="rId20"/>
    <p:sldId id="298" r:id="rId21"/>
    <p:sldId id="299" r:id="rId22"/>
    <p:sldId id="300" r:id="rId23"/>
    <p:sldId id="264" r:id="rId24"/>
    <p:sldId id="265" r:id="rId25"/>
    <p:sldId id="269" r:id="rId26"/>
    <p:sldId id="27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35FD0-D4C1-417A-AEA1-029F556ADD3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9F71F-343E-40D6-88EF-67AED848F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8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B9F71F-343E-40D6-88EF-67AED848FCF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6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7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67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2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5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7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6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3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21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40778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30BB6-4008-40CA-8290-F608745FE2A1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36690-16EB-4DF3-9760-BC93207A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Convolutional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86596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Machine</a:t>
            </a:r>
            <a:r>
              <a:rPr lang="en-US" sz="3600" dirty="0"/>
              <a:t> </a:t>
            </a:r>
            <a:r>
              <a:rPr lang="en-US" sz="4000" b="1" dirty="0"/>
              <a:t>Learning and Deep Learning</a:t>
            </a:r>
          </a:p>
        </p:txBody>
      </p:sp>
      <p:sp>
        <p:nvSpPr>
          <p:cNvPr id="5" name="AutoShape 2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14" y="1956027"/>
            <a:ext cx="7847286" cy="406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7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Machine</a:t>
            </a:r>
            <a:r>
              <a:rPr lang="en-US" sz="3600" dirty="0"/>
              <a:t> </a:t>
            </a:r>
            <a:r>
              <a:rPr lang="en-US" sz="4000" b="1" dirty="0"/>
              <a:t>Learning and Deep Learning</a:t>
            </a:r>
          </a:p>
        </p:txBody>
      </p:sp>
      <p:sp>
        <p:nvSpPr>
          <p:cNvPr id="5" name="AutoShape 2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A.I. technical - Machine Learning vs. Deep Learn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75" y="2039620"/>
            <a:ext cx="7845425" cy="359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2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CNN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59173"/>
            <a:ext cx="8686800" cy="352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7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Rounded MT Bold" pitchFamily="34" charset="0"/>
              </a:rPr>
              <a:t>MNIST Dataset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800" dirty="0">
              <a:latin typeface="Arial Rounded MT Bold" pitchFamily="34" charset="0"/>
            </a:endParaRPr>
          </a:p>
          <a:p>
            <a:r>
              <a:rPr lang="en-US" sz="2800" dirty="0">
                <a:latin typeface="Arial Rounded MT Bold" pitchFamily="34" charset="0"/>
              </a:rPr>
              <a:t>MNIST Dataset: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err="1">
                <a:latin typeface="Arial Rounded MT Bold" pitchFamily="34" charset="0"/>
              </a:rPr>
              <a:t>Grayscale</a:t>
            </a:r>
            <a:r>
              <a:rPr lang="en-US" sz="2400" dirty="0">
                <a:latin typeface="Arial Rounded MT Bold" pitchFamily="34" charset="0"/>
              </a:rPr>
              <a:t> images of handwritten digits (28*28 pixels).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Arial Rounded MT Bold" pitchFamily="34" charset="0"/>
              </a:rPr>
              <a:t>60.000 training images, 10.000 test images.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Arial Rounded MT Bold" pitchFamily="34" charset="0"/>
              </a:rPr>
              <a:t>Goal : to classify the images into their 10 categories(0 to 9).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181600"/>
            <a:ext cx="3048000" cy="85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684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 Rounded MT Bold" pitchFamily="34" charset="0"/>
              </a:rPr>
              <a:t>Loading the MNIST dataset </a:t>
            </a:r>
            <a:endParaRPr lang="en-US" sz="3600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95756"/>
            <a:ext cx="8610600" cy="1095044"/>
          </a:xfr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38425"/>
            <a:ext cx="85344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605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Rounded MT Bold" pitchFamily="34" charset="0"/>
              </a:rPr>
              <a:t>Show some samples of dataset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676400"/>
            <a:ext cx="8858250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996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Create the convolutional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  <a:ea typeface="+mj-ea"/>
                <a:cs typeface="+mj-cs"/>
              </a:rPr>
              <a:t>As input, a CNN takes tensors of shape  (</a:t>
            </a:r>
            <a:r>
              <a:rPr lang="en-US" sz="2400" dirty="0" err="1">
                <a:latin typeface="+mj-lt"/>
                <a:ea typeface="+mj-ea"/>
                <a:cs typeface="+mj-cs"/>
              </a:rPr>
              <a:t>image_height</a:t>
            </a:r>
            <a:r>
              <a:rPr lang="en-US" sz="2400" dirty="0">
                <a:latin typeface="+mj-lt"/>
                <a:ea typeface="+mj-ea"/>
                <a:cs typeface="+mj-cs"/>
              </a:rPr>
              <a:t>, </a:t>
            </a:r>
            <a:r>
              <a:rPr lang="en-US" sz="2400" dirty="0" err="1">
                <a:latin typeface="+mj-lt"/>
                <a:ea typeface="+mj-ea"/>
                <a:cs typeface="+mj-cs"/>
              </a:rPr>
              <a:t>image_width</a:t>
            </a:r>
            <a:r>
              <a:rPr lang="en-US" sz="2400" dirty="0">
                <a:latin typeface="+mj-lt"/>
                <a:ea typeface="+mj-ea"/>
                <a:cs typeface="+mj-cs"/>
              </a:rPr>
              <a:t>, </a:t>
            </a:r>
            <a:r>
              <a:rPr lang="en-US" sz="2400" dirty="0" err="1">
                <a:latin typeface="+mj-lt"/>
                <a:ea typeface="+mj-ea"/>
                <a:cs typeface="+mj-cs"/>
              </a:rPr>
              <a:t>color_channels</a:t>
            </a:r>
            <a:r>
              <a:rPr lang="en-US" sz="2400" dirty="0">
                <a:latin typeface="+mj-lt"/>
                <a:ea typeface="+mj-ea"/>
                <a:cs typeface="+mj-cs"/>
              </a:rPr>
              <a:t>).</a:t>
            </a:r>
          </a:p>
          <a:p>
            <a:r>
              <a:rPr lang="en-US" sz="2400" dirty="0"/>
              <a:t>In this example, you will configure your CNN to process inputs of shape (28, 28, 1), which is the format of MNIST images. </a:t>
            </a:r>
            <a:endParaRPr lang="en-US" sz="2400" dirty="0"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00475"/>
            <a:ext cx="769620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653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Create the convolutional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5029200"/>
          </a:xfrm>
        </p:spPr>
        <p:txBody>
          <a:bodyPr>
            <a:normAutofit fontScale="62500" lnSpcReduction="20000"/>
          </a:bodyPr>
          <a:lstStyle/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r>
              <a:rPr lang="en-US" dirty="0">
                <a:latin typeface="+mj-lt"/>
                <a:ea typeface="+mj-ea"/>
                <a:cs typeface="+mj-cs"/>
              </a:rPr>
              <a:t>Above, you can see that the output of every </a:t>
            </a:r>
            <a:r>
              <a:rPr lang="en-US" b="1" dirty="0">
                <a:latin typeface="+mj-lt"/>
                <a:ea typeface="+mj-ea"/>
                <a:cs typeface="+mj-cs"/>
              </a:rPr>
              <a:t>Conv2D</a:t>
            </a:r>
            <a:r>
              <a:rPr lang="en-US" dirty="0">
                <a:latin typeface="+mj-lt"/>
                <a:ea typeface="+mj-ea"/>
                <a:cs typeface="+mj-cs"/>
              </a:rPr>
              <a:t> and </a:t>
            </a:r>
            <a:r>
              <a:rPr lang="en-US" b="1" dirty="0">
                <a:latin typeface="+mj-lt"/>
                <a:ea typeface="+mj-ea"/>
                <a:cs typeface="+mj-cs"/>
              </a:rPr>
              <a:t>MaxPooling2D</a:t>
            </a:r>
            <a:r>
              <a:rPr lang="en-US" dirty="0">
                <a:latin typeface="+mj-lt"/>
                <a:ea typeface="+mj-ea"/>
                <a:cs typeface="+mj-cs"/>
              </a:rPr>
              <a:t> layer is a 3D tensor of shape (height, width, channels). The width and height dimensions tend to </a:t>
            </a:r>
            <a:r>
              <a:rPr lang="en-US" b="1" dirty="0">
                <a:latin typeface="+mj-lt"/>
                <a:ea typeface="+mj-ea"/>
                <a:cs typeface="+mj-cs"/>
              </a:rPr>
              <a:t>shrink</a:t>
            </a:r>
            <a:r>
              <a:rPr lang="en-US" dirty="0">
                <a:latin typeface="+mj-lt"/>
                <a:ea typeface="+mj-ea"/>
                <a:cs typeface="+mj-cs"/>
              </a:rPr>
              <a:t> as you go deeper in the network. The number of output channels for each Conv2D layer is controlled by the first argument (e.g., 32 or 64). 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897255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876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Add Dense layers on 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5029200"/>
          </a:xfrm>
        </p:spPr>
        <p:txBody>
          <a:bodyPr>
            <a:normAutofit/>
          </a:bodyPr>
          <a:lstStyle/>
          <a:p>
            <a:r>
              <a:rPr lang="en-US" sz="2400" dirty="0"/>
              <a:t>To complete the model, you will feed the last output tensor from the convolutional base (of shape (3, 3, 64)) into one or more </a:t>
            </a:r>
            <a:r>
              <a:rPr lang="en-US" sz="2400" b="1" dirty="0"/>
              <a:t>Dense layers </a:t>
            </a:r>
            <a:r>
              <a:rPr lang="en-US" sz="2400" dirty="0"/>
              <a:t>to perform </a:t>
            </a:r>
            <a:r>
              <a:rPr lang="en-US" sz="2400" b="1" dirty="0"/>
              <a:t>classification</a:t>
            </a:r>
            <a:r>
              <a:rPr lang="en-US" sz="2400" dirty="0"/>
              <a:t>. </a:t>
            </a:r>
          </a:p>
          <a:p>
            <a:r>
              <a:rPr lang="en-US" sz="2400" dirty="0"/>
              <a:t>Dense layers take vectors as input (which are 1D), while the current output is a 3D tensor.</a:t>
            </a:r>
            <a:endParaRPr lang="en-US" sz="2400" dirty="0">
              <a:latin typeface="+mj-lt"/>
              <a:ea typeface="+mj-ea"/>
              <a:cs typeface="+mj-cs"/>
            </a:endParaRPr>
          </a:p>
          <a:p>
            <a:r>
              <a:rPr lang="en-US" sz="2400" dirty="0"/>
              <a:t>First, you will flatten the 3D output to 1D, then add one or more Dense layers on top. MISNT has 10 output classes, so you use a final Dense layer with 10 outputs.</a:t>
            </a:r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3100" dirty="0"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133975"/>
            <a:ext cx="77724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3147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Add Dense layers on 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5029200"/>
          </a:xfrm>
        </p:spPr>
        <p:txBody>
          <a:bodyPr>
            <a:normAutofit/>
          </a:bodyPr>
          <a:lstStyle/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31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1" y="1371600"/>
            <a:ext cx="8277859" cy="40129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3400" y="55626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The network summary shows that (3, 3, 64) outputs were flattened into vectors of shape (576) before going through two Dense layers.</a:t>
            </a:r>
          </a:p>
        </p:txBody>
      </p:sp>
    </p:spTree>
    <p:extLst>
      <p:ext uri="{BB962C8B-B14F-4D97-AF65-F5344CB8AC3E}">
        <p14:creationId xmlns:p14="http://schemas.microsoft.com/office/powerpoint/2010/main" val="121803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Compile and train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3100" dirty="0">
              <a:latin typeface="+mj-lt"/>
              <a:ea typeface="+mj-ea"/>
              <a:cs typeface="+mj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1175"/>
            <a:ext cx="9144000" cy="484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618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rial Rounded MT Bold" pitchFamily="34" charset="0"/>
              </a:rPr>
              <a:t>Using the model to make predictions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3100" dirty="0">
              <a:latin typeface="+mj-lt"/>
              <a:ea typeface="+mj-ea"/>
              <a:cs typeface="+mj-cs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33875"/>
            <a:ext cx="560070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24475"/>
            <a:ext cx="67627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1600200"/>
            <a:ext cx="85248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971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Arial Rounded MT Bold" pitchFamily="34" charset="0"/>
              </a:rPr>
              <a:t>Evaluating the model on new data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24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endParaRPr lang="en-US" sz="31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3100" dirty="0">
              <a:latin typeface="+mj-lt"/>
              <a:ea typeface="+mj-ea"/>
              <a:cs typeface="+mj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1905000"/>
            <a:ext cx="74199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71900"/>
            <a:ext cx="76200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6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1922-CB13-7E55-A74E-6F42B320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33175-90E8-8875-3733-A0113203A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Convolution layer</a:t>
            </a:r>
          </a:p>
          <a:p>
            <a:r>
              <a:rPr lang="en-US" dirty="0" err="1"/>
              <a:t>Relu</a:t>
            </a:r>
            <a:r>
              <a:rPr lang="en-US" dirty="0"/>
              <a:t> activation function</a:t>
            </a:r>
          </a:p>
          <a:p>
            <a:r>
              <a:rPr lang="en-US" dirty="0"/>
              <a:t>Pooling layer</a:t>
            </a:r>
          </a:p>
          <a:p>
            <a:r>
              <a:rPr lang="en-US" dirty="0"/>
              <a:t>Flatten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301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CONVOLUTIONAL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Convolutional layer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: the primary purpose of convolution is to extract features from the input image. Convolution preserves the spatial convolution layer output y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pt-BR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 ∗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078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BEA4A8C6-AD60-5AD8-B7C8-28E380B76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428" y="3124200"/>
            <a:ext cx="4141143" cy="345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86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CONVOLUTIONAL LAYER OPERATION</a:t>
            </a:r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6ABF3325-A03E-845F-9153-752DC741A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3" y="1674704"/>
            <a:ext cx="8958775" cy="490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47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ReLU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ReLU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stands for rectified linear unit, and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   is a type of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activation function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f(x) = max(0,x)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000249"/>
            <a:ext cx="2971800" cy="1743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38800" y="2209800"/>
            <a:ext cx="914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10000"/>
            <a:ext cx="6781800" cy="20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3219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POOLING LAYER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Pooling layers would reduce the number of parameters when the inputs are too large.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Pooling also called down sampling which reduces the dimensionality of each map but retains important information.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Max Pooling, Average Pooling, Sum Pooling.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90119BC-04D3-0E71-B659-3924A18AF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37" y="3733799"/>
            <a:ext cx="7570925" cy="248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3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2"/>
            <a:ext cx="851300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6" y="2693653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9F9F2-06B6-94B7-0CA1-5AFA4CAB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20" y="599028"/>
            <a:ext cx="8715820" cy="6132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latin typeface="source-serif-pro"/>
              </a:rPr>
              <a:t>We cannot say that a particular pooling method is better over other generally. The choice of pooling operation is made </a:t>
            </a:r>
            <a:r>
              <a:rPr lang="en-US" b="0" i="0" dirty="0">
                <a:solidFill>
                  <a:schemeClr val="accent2"/>
                </a:solidFill>
                <a:effectLst/>
                <a:latin typeface="source-serif-pro"/>
              </a:rPr>
              <a:t>based on the data at hand</a:t>
            </a:r>
            <a:r>
              <a:rPr lang="en-US" b="0" i="0" dirty="0">
                <a:effectLst/>
                <a:latin typeface="source-serif-pro"/>
              </a:rPr>
              <a:t>. </a:t>
            </a:r>
          </a:p>
          <a:p>
            <a:pPr marL="0" indent="0">
              <a:buNone/>
            </a:pPr>
            <a:r>
              <a:rPr lang="en-US" i="0" u="sng" dirty="0">
                <a:solidFill>
                  <a:schemeClr val="accent2"/>
                </a:solidFill>
                <a:effectLst/>
                <a:latin typeface="source-serif-pro"/>
              </a:rPr>
              <a:t>Average pooling method </a:t>
            </a:r>
            <a:r>
              <a:rPr lang="en-US" b="0" i="0" dirty="0">
                <a:solidFill>
                  <a:srgbClr val="3D3D4E"/>
                </a:solidFill>
                <a:effectLst/>
                <a:latin typeface="Droid Serif"/>
              </a:rPr>
              <a:t> </a:t>
            </a:r>
            <a:r>
              <a:rPr lang="en-US" b="0" i="0" dirty="0">
                <a:effectLst/>
                <a:latin typeface="Droid Serif"/>
              </a:rPr>
              <a:t>smooths the harsh edges of a picture and is used when such edges are not important</a:t>
            </a:r>
            <a:r>
              <a:rPr lang="en-US" b="0" i="0" dirty="0">
                <a:effectLst/>
                <a:latin typeface="source-serif-pro"/>
              </a:rPr>
              <a:t>.</a:t>
            </a:r>
          </a:p>
          <a:p>
            <a:pPr marL="0" indent="0">
              <a:buNone/>
            </a:pPr>
            <a:endParaRPr lang="en-US" b="0" i="0" dirty="0">
              <a:effectLst/>
              <a:latin typeface="source-serif-pro"/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987863D-1E1B-EEF3-17D9-B617A8A8B8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4" t="4940" r="10622" b="5607"/>
          <a:stretch/>
        </p:blipFill>
        <p:spPr>
          <a:xfrm>
            <a:off x="4648200" y="3886200"/>
            <a:ext cx="4361154" cy="284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4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1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3134-41D0-9BA5-F17E-109430859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02" y="815290"/>
            <a:ext cx="8004810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u="sng" dirty="0">
                <a:solidFill>
                  <a:schemeClr val="accent2"/>
                </a:solidFill>
                <a:effectLst/>
                <a:latin typeface="source-serif-pro"/>
              </a:rPr>
              <a:t>Max pooling 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selects the brighter pixels from the image. It is useful when the background of the image is </a:t>
            </a:r>
            <a:r>
              <a:rPr lang="en-US" i="0" dirty="0">
                <a:solidFill>
                  <a:srgbClr val="C00000"/>
                </a:solidFill>
                <a:effectLst/>
                <a:latin typeface="source-serif-pro"/>
              </a:rPr>
              <a:t>dark,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 and we are interested in only the </a:t>
            </a:r>
            <a:r>
              <a:rPr lang="en-US" b="0" i="0" dirty="0">
                <a:solidFill>
                  <a:srgbClr val="C00000"/>
                </a:solidFill>
                <a:effectLst/>
                <a:latin typeface="source-serif-pro"/>
              </a:rPr>
              <a:t>lighter pixels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 of the image.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92929"/>
                </a:solidFill>
                <a:latin typeface="source-serif-pro"/>
              </a:rPr>
              <a:t>   </a:t>
            </a:r>
            <a:r>
              <a:rPr lang="en-US" sz="2000" dirty="0">
                <a:solidFill>
                  <a:srgbClr val="292929"/>
                </a:solidFill>
                <a:latin typeface="source-serif-pro"/>
              </a:rPr>
              <a:t>     </a:t>
            </a:r>
            <a:r>
              <a:rPr lang="en-US" sz="2000" dirty="0">
                <a:solidFill>
                  <a:srgbClr val="C00000"/>
                </a:solidFill>
                <a:latin typeface="source-serif-pro"/>
              </a:rPr>
              <a:t> </a:t>
            </a:r>
            <a:r>
              <a:rPr lang="en-US" sz="2000" i="0" dirty="0">
                <a:solidFill>
                  <a:srgbClr val="C00000"/>
                </a:solidFill>
                <a:effectLst/>
                <a:latin typeface="source-serif-pro"/>
              </a:rPr>
              <a:t>For example: </a:t>
            </a:r>
            <a:r>
              <a:rPr lang="en-US" sz="2000" b="0" i="0" dirty="0">
                <a:solidFill>
                  <a:srgbClr val="292929"/>
                </a:solidFill>
                <a:effectLst/>
                <a:latin typeface="source-serif-pro"/>
              </a:rPr>
              <a:t>in MNIST dataset, the digits are represented in white color and the background is   black. So,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ource-serif-pro"/>
              </a:rPr>
              <a:t>max pooling is used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.</a:t>
            </a:r>
            <a:endParaRPr lang="ar-EG" dirty="0"/>
          </a:p>
        </p:txBody>
      </p:sp>
      <p:pic>
        <p:nvPicPr>
          <p:cNvPr id="6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CBC35C8-979D-6047-44F4-69A80C077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1" y="4452070"/>
            <a:ext cx="4076700" cy="231877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9285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1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E3134-41D0-9BA5-F17E-109430859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14124"/>
            <a:ext cx="8004810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chemeClr val="accent2"/>
                </a:solidFill>
                <a:effectLst/>
                <a:latin typeface="Droid Serif"/>
              </a:rPr>
              <a:t>Min Pooling </a:t>
            </a:r>
            <a:r>
              <a:rPr lang="en-US" b="0" i="0" dirty="0">
                <a:effectLst/>
                <a:latin typeface="Droid Serif"/>
              </a:rPr>
              <a:t>It is mostly used when the image has a </a:t>
            </a:r>
            <a:r>
              <a:rPr lang="en-US" b="0" i="0" dirty="0">
                <a:solidFill>
                  <a:srgbClr val="C00000"/>
                </a:solidFill>
                <a:effectLst/>
                <a:latin typeface="Droid Serif"/>
              </a:rPr>
              <a:t>light background </a:t>
            </a:r>
            <a:r>
              <a:rPr lang="en-US" b="0" i="0" dirty="0">
                <a:effectLst/>
                <a:latin typeface="Droid Serif"/>
              </a:rPr>
              <a:t>since min pooling will select </a:t>
            </a:r>
            <a:r>
              <a:rPr lang="en-US" b="0" i="0" dirty="0">
                <a:solidFill>
                  <a:srgbClr val="C00000"/>
                </a:solidFill>
                <a:effectLst/>
                <a:latin typeface="Droid Serif"/>
              </a:rPr>
              <a:t>darker pixels</a:t>
            </a:r>
            <a:r>
              <a:rPr lang="en-US" b="0" i="0" dirty="0">
                <a:effectLst/>
                <a:latin typeface="Droid Serif"/>
              </a:rPr>
              <a:t>.</a:t>
            </a:r>
            <a:endParaRPr lang="ar-EG" dirty="0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4372E0C4-C356-65C2-858D-821BA8E02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920" y="3124199"/>
            <a:ext cx="4142240" cy="353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2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Flatten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The feature matrix will be converted as vector (x1,x2,x3,…)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647642"/>
            <a:ext cx="5181600" cy="268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49485" y="1981200"/>
            <a:ext cx="1173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Flattening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5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Fully-connected layer with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ReLU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30" y="2057400"/>
            <a:ext cx="875357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8032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13A3-3FAB-9C5E-4647-258B1CF2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Advantages of CNN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A345-0819-9D1D-9766-E638499F4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Helvetica Neue Medium (Body)"/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No human supervision.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High accuracy at image recognition.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Minimize computation.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Great for short texts (e.g., headlines).</a:t>
            </a:r>
          </a:p>
          <a:p>
            <a:pPr marL="0" indent="0">
              <a:buNone/>
            </a:pPr>
            <a:endParaRPr lang="en-US" b="1" i="0" dirty="0">
              <a:solidFill>
                <a:srgbClr val="090A0B"/>
              </a:solidFill>
              <a:effectLst/>
              <a:latin typeface="Helvetica Neue Medium (Body)"/>
            </a:endParaRPr>
          </a:p>
          <a:p>
            <a:pPr marL="0" indent="0">
              <a:buNone/>
            </a:pPr>
            <a:endParaRPr lang="en-US" b="1" i="0" dirty="0">
              <a:solidFill>
                <a:srgbClr val="090A0B"/>
              </a:solidFill>
              <a:effectLst/>
              <a:latin typeface="Helvetica Neue Medium (Body)"/>
            </a:endParaRPr>
          </a:p>
          <a:p>
            <a:endParaRPr lang="en-US" dirty="0">
              <a:latin typeface="Helvetica Neue Medium (Body)"/>
            </a:endParaRPr>
          </a:p>
        </p:txBody>
      </p:sp>
    </p:spTree>
    <p:extLst>
      <p:ext uri="{BB962C8B-B14F-4D97-AF65-F5344CB8AC3E}">
        <p14:creationId xmlns:p14="http://schemas.microsoft.com/office/powerpoint/2010/main" val="388139675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13A3-3FAB-9C5E-4647-258B1CF2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Disadvantages of CNN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A345-0819-9D1D-9766-E638499F4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Classification of Images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    with different Positions.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Fail to encode the position &amp;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    orientation of objects.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 lot of training data is needed.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Training process takes a long time.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b="1" i="0" dirty="0">
              <a:solidFill>
                <a:srgbClr val="090A0B"/>
              </a:solidFill>
              <a:effectLst/>
              <a:latin typeface="Helvetica Neue Medium (Body)"/>
            </a:endParaRPr>
          </a:p>
          <a:p>
            <a:endParaRPr lang="en-US" dirty="0">
              <a:latin typeface="Helvetica Neue Medium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ED2A1B-7475-8C64-B2A9-AE3AEB62B8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371600"/>
            <a:ext cx="2396714" cy="1547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0FA2DE-BEB1-AFF3-3C69-1A61FF96A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276600"/>
            <a:ext cx="2396714" cy="133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6420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672</Words>
  <Application>Microsoft Office PowerPoint</Application>
  <PresentationFormat>On-screen Show (4:3)</PresentationFormat>
  <Paragraphs>132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Rounded MT Bold</vt:lpstr>
      <vt:lpstr>Calibri</vt:lpstr>
      <vt:lpstr>Cambria Math</vt:lpstr>
      <vt:lpstr>Droid Serif</vt:lpstr>
      <vt:lpstr>Helvetica Neue Medium (Body)</vt:lpstr>
      <vt:lpstr>source-serif-pro</vt:lpstr>
      <vt:lpstr>Office Theme</vt:lpstr>
      <vt:lpstr>Convolutional Neural Network</vt:lpstr>
      <vt:lpstr>Machine Learning and Deep Learning</vt:lpstr>
      <vt:lpstr>Machine Learning and Deep Learning</vt:lpstr>
      <vt:lpstr>CNN</vt:lpstr>
      <vt:lpstr>MNIST Dataset</vt:lpstr>
      <vt:lpstr>Loading the MNIST dataset </vt:lpstr>
      <vt:lpstr>Show some samples of dataset </vt:lpstr>
      <vt:lpstr>Create the convolutional base</vt:lpstr>
      <vt:lpstr>Create the convolutional base</vt:lpstr>
      <vt:lpstr>Add Dense layers on top</vt:lpstr>
      <vt:lpstr>Add Dense layers on top</vt:lpstr>
      <vt:lpstr>Compile and train the model</vt:lpstr>
      <vt:lpstr>Using the model to make predictions</vt:lpstr>
      <vt:lpstr>Evaluating the model on new data</vt:lpstr>
      <vt:lpstr>Feature Extraction</vt:lpstr>
      <vt:lpstr>CONVOLUTIONAL LAYER</vt:lpstr>
      <vt:lpstr>CONVOLUTIONAL LAYER OPERATION</vt:lpstr>
      <vt:lpstr>ReLU Function</vt:lpstr>
      <vt:lpstr>POOLING LAYER</vt:lpstr>
      <vt:lpstr>PowerPoint Presentation</vt:lpstr>
      <vt:lpstr>PowerPoint Presentation</vt:lpstr>
      <vt:lpstr>PowerPoint Presentation</vt:lpstr>
      <vt:lpstr>Flatten LAYER</vt:lpstr>
      <vt:lpstr>Fully-connected layer with ReLU</vt:lpstr>
      <vt:lpstr>Advantages of CNN models</vt:lpstr>
      <vt:lpstr>Disadvantages of CNN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</dc:title>
  <dc:creator>FORMAT</dc:creator>
  <cp:lastModifiedBy>فايزه  احمد عبدالنبى الشوربجى</cp:lastModifiedBy>
  <cp:revision>51</cp:revision>
  <dcterms:created xsi:type="dcterms:W3CDTF">2023-03-16T10:03:14Z</dcterms:created>
  <dcterms:modified xsi:type="dcterms:W3CDTF">2024-12-05T20:48:28Z</dcterms:modified>
</cp:coreProperties>
</file>