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67"/>
  </p:notesMasterIdLst>
  <p:sldIdLst>
    <p:sldId id="256" r:id="rId2"/>
    <p:sldId id="550" r:id="rId3"/>
    <p:sldId id="498" r:id="rId4"/>
    <p:sldId id="512" r:id="rId5"/>
    <p:sldId id="593" r:id="rId6"/>
    <p:sldId id="594" r:id="rId7"/>
    <p:sldId id="597" r:id="rId8"/>
    <p:sldId id="595" r:id="rId9"/>
    <p:sldId id="596" r:id="rId10"/>
    <p:sldId id="542" r:id="rId11"/>
    <p:sldId id="548" r:id="rId12"/>
    <p:sldId id="592" r:id="rId13"/>
    <p:sldId id="600" r:id="rId14"/>
    <p:sldId id="598" r:id="rId15"/>
    <p:sldId id="599" r:id="rId16"/>
    <p:sldId id="601" r:id="rId17"/>
    <p:sldId id="602" r:id="rId18"/>
    <p:sldId id="603" r:id="rId19"/>
    <p:sldId id="412" r:id="rId20"/>
    <p:sldId id="604" r:id="rId21"/>
    <p:sldId id="590" r:id="rId22"/>
    <p:sldId id="605" r:id="rId23"/>
    <p:sldId id="606" r:id="rId24"/>
    <p:sldId id="607" r:id="rId25"/>
    <p:sldId id="608" r:id="rId26"/>
    <p:sldId id="609" r:id="rId27"/>
    <p:sldId id="610" r:id="rId28"/>
    <p:sldId id="611" r:id="rId29"/>
    <p:sldId id="612" r:id="rId30"/>
    <p:sldId id="613" r:id="rId31"/>
    <p:sldId id="614" r:id="rId32"/>
    <p:sldId id="615" r:id="rId33"/>
    <p:sldId id="616" r:id="rId34"/>
    <p:sldId id="646" r:id="rId35"/>
    <p:sldId id="647" r:id="rId36"/>
    <p:sldId id="617" r:id="rId37"/>
    <p:sldId id="619" r:id="rId38"/>
    <p:sldId id="618" r:id="rId39"/>
    <p:sldId id="620" r:id="rId40"/>
    <p:sldId id="621" r:id="rId41"/>
    <p:sldId id="648" r:id="rId42"/>
    <p:sldId id="625" r:id="rId43"/>
    <p:sldId id="628" r:id="rId44"/>
    <p:sldId id="629" r:id="rId45"/>
    <p:sldId id="630" r:id="rId46"/>
    <p:sldId id="631" r:id="rId47"/>
    <p:sldId id="632" r:id="rId48"/>
    <p:sldId id="633" r:id="rId49"/>
    <p:sldId id="635" r:id="rId50"/>
    <p:sldId id="636" r:id="rId51"/>
    <p:sldId id="637" r:id="rId52"/>
    <p:sldId id="641" r:id="rId53"/>
    <p:sldId id="642" r:id="rId54"/>
    <p:sldId id="643" r:id="rId55"/>
    <p:sldId id="644" r:id="rId56"/>
    <p:sldId id="645" r:id="rId57"/>
    <p:sldId id="290" r:id="rId58"/>
    <p:sldId id="416" r:id="rId59"/>
    <p:sldId id="652" r:id="rId60"/>
    <p:sldId id="544" r:id="rId61"/>
    <p:sldId id="650" r:id="rId62"/>
    <p:sldId id="651" r:id="rId63"/>
    <p:sldId id="403" r:id="rId64"/>
    <p:sldId id="591" r:id="rId65"/>
    <p:sldId id="649" r:id="rId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2" autoAdjust="0"/>
    <p:restoredTop sz="89334" autoAdjust="0"/>
  </p:normalViewPr>
  <p:slideViewPr>
    <p:cSldViewPr>
      <p:cViewPr varScale="1">
        <p:scale>
          <a:sx n="80" d="100"/>
          <a:sy n="80" d="100"/>
        </p:scale>
        <p:origin x="930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C8AE7-6413-4430-9123-6C2E9B1CD732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342BE2-83AA-45C7-88D2-6BE654433A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70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 18 38  H 13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1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413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31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36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35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3550D-F135-8475-7F2B-FA0E6660A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BAD5D-36A0-A147-DDD0-FB02B3BC3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75097-99BF-D7A0-F35E-1134D1297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4629B-CB13-FB6E-CE0C-6FDBBD84F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5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Answer: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91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Answer: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19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Answer: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25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D21A8-0EE2-44DC-80A0-A0237E09B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3733800"/>
            <a:ext cx="7620000" cy="12192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itchFamily="18" charset="0"/>
              </a:rPr>
              <a:t>Chapter 6:</a:t>
            </a:r>
            <a:b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itchFamily="18" charset="0"/>
              </a:rPr>
            </a:br>
            <a:b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Utilization: Multiplexing and Spectrum Spreading</a:t>
            </a:r>
            <a:b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itchFamily="18" charset="0"/>
              </a:rPr>
            </a:b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470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A058D-3E9A-F314-C822-B18E3361F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F3E9D4-D66A-D470-F6C5-9F401D7D8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Revision</a:t>
            </a:r>
          </a:p>
        </p:txBody>
      </p:sp>
    </p:spTree>
    <p:extLst>
      <p:ext uri="{BB962C8B-B14F-4D97-AF65-F5344CB8AC3E}">
        <p14:creationId xmlns:p14="http://schemas.microsoft.com/office/powerpoint/2010/main" val="802186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202EF-D19B-8D3E-9EA6-484EB6245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D4CA8-BAFF-C2E8-2C56-917243D8742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coding converts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data to digital signals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93D95D-28D5-D4FB-A133-2D41F8C63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90" y="2667000"/>
            <a:ext cx="791122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03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B3269-473F-16AE-82B9-7DF275D5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Coding Schemes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B94E51-CE2D-F380-C36E-C650CEDF59B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457200" y="2209800"/>
            <a:ext cx="8462298" cy="2971800"/>
          </a:xfr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2BDCB16-537B-2F51-4F65-4229C02FE197}"/>
              </a:ext>
            </a:extLst>
          </p:cNvPr>
          <p:cNvSpPr/>
          <p:nvPr/>
        </p:nvSpPr>
        <p:spPr>
          <a:xfrm>
            <a:off x="2895600" y="1981200"/>
            <a:ext cx="6023898" cy="19812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25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A0DF-BF35-8E8A-4C81-B87682339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8-bit data stream for each case depicted in Figure 4.36.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8799290-31F6-ADFA-56AE-7E8FD97887B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524000" y="1752600"/>
            <a:ext cx="5867400" cy="2230834"/>
          </a:xfrm>
        </p:spPr>
      </p:pic>
    </p:spTree>
    <p:extLst>
      <p:ext uri="{BB962C8B-B14F-4D97-AF65-F5344CB8AC3E}">
        <p14:creationId xmlns:p14="http://schemas.microsoft.com/office/powerpoint/2010/main" val="3921160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B488E-4F6A-FE55-B2B6-5892076A3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38820-A677-1838-2F05-65C174980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8-bit data stream for each case depicted in Figure 4.36.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C9FE84D-DECA-1077-9A7A-4822BE427AF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524000" y="1752600"/>
            <a:ext cx="5867400" cy="223083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7DB19-7D78-8965-3809-98745CB8ED94}"/>
              </a:ext>
            </a:extLst>
          </p:cNvPr>
          <p:cNvSpPr txBox="1"/>
          <p:nvPr/>
        </p:nvSpPr>
        <p:spPr>
          <a:xfrm>
            <a:off x="3612398" y="3886200"/>
            <a:ext cx="2178802" cy="1366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ar-EG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01110001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287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57F6E1-7EAA-136F-2C14-662EBBA685C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09600" y="1269253"/>
            <a:ext cx="7604978" cy="4319494"/>
          </a:xfrm>
        </p:spPr>
      </p:pic>
    </p:spTree>
    <p:extLst>
      <p:ext uri="{BB962C8B-B14F-4D97-AF65-F5344CB8AC3E}">
        <p14:creationId xmlns:p14="http://schemas.microsoft.com/office/powerpoint/2010/main" val="745866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FD23E-8110-328B-5C09-D0CD1081A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53F7C-34A2-FD88-B582-AECD4219B48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a baseband channel with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1-MHz bandwidth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What is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channel if we use each of the following line coding schemes?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NRZ-L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Manchester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5C0E44-D272-F7A6-A121-E765B4DBC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370" y="3048000"/>
            <a:ext cx="4476783" cy="11525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FF57B7-ECE1-1784-A649-C35AECD2C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4216968"/>
            <a:ext cx="3705252" cy="120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548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FC202-7DBA-86A6-AA52-039D4D340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7AB311-D950-F0AC-D8C8-A5235750123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04800" y="2895600"/>
            <a:ext cx="7239000" cy="847422"/>
          </a:xfrm>
        </p:spPr>
      </p:pic>
    </p:spTree>
    <p:extLst>
      <p:ext uri="{BB962C8B-B14F-4D97-AF65-F5344CB8AC3E}">
        <p14:creationId xmlns:p14="http://schemas.microsoft.com/office/powerpoint/2010/main" val="2707534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81FBE-0ABD-1CAF-C6F7-2763E972B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DIGITAL-TO-ANALOG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2D33C-2C8F-2A88-D538-23B76A1DC2D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905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Digital-to-analog conversion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process of changing one of the characteristics of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analog signal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information in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961DE-BFC8-24E8-6760-B59E89B81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18" y="3657600"/>
            <a:ext cx="8163984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55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954ED-CDAC-BC12-1B7A-C2AE8C33B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67E93-FF8D-8DEC-69B2-929B16F71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digital-to-analog conversion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9D4E4F-FB2B-A027-38DE-B991CF0B820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09600" y="2286000"/>
            <a:ext cx="7577165" cy="2760673"/>
          </a:xfrm>
        </p:spPr>
      </p:pic>
    </p:spTree>
    <p:extLst>
      <p:ext uri="{BB962C8B-B14F-4D97-AF65-F5344CB8AC3E}">
        <p14:creationId xmlns:p14="http://schemas.microsoft.com/office/powerpoint/2010/main" val="655265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ADF350-1CEE-0F97-C98F-BBA6F6D1A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5022"/>
            <a:ext cx="5715000" cy="21159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D9DE79-ED57-1919-8CC2-D2590261B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0" y="2220618"/>
            <a:ext cx="5867400" cy="24167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061AF5-27A3-ECF6-A4A7-D5E89C4D4D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4572000"/>
            <a:ext cx="5715000" cy="215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68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F7DBB-B66E-D23E-1C77-0F4F02531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C8F77-509F-3531-F254-088033981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9CC7A-E0A9-BE73-2945-1398B3A5EBB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baud 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given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rate and type of modulation.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2000 bps, FSK </a:t>
            </a:r>
          </a:p>
        </p:txBody>
      </p:sp>
    </p:spTree>
    <p:extLst>
      <p:ext uri="{BB962C8B-B14F-4D97-AF65-F5344CB8AC3E}">
        <p14:creationId xmlns:p14="http://schemas.microsoft.com/office/powerpoint/2010/main" val="2796479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6EA9A-D3E1-6DA2-FD4D-B25F6AE2A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31D71-FE07-75F5-9A1E-60C97BDD8F5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baud 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given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rate and type of modulation.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2000 bps, FSK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2000 baud </a:t>
            </a:r>
          </a:p>
        </p:txBody>
      </p:sp>
    </p:spTree>
    <p:extLst>
      <p:ext uri="{BB962C8B-B14F-4D97-AF65-F5344CB8AC3E}">
        <p14:creationId xmlns:p14="http://schemas.microsoft.com/office/powerpoint/2010/main" val="1839979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B9ED-5B96-5533-C758-A746AF106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5FF26-E168-80BF-2B83-5310530146F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given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baud rate and 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modulation.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1000 baud, ASK 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691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51380-34B1-E25A-5BFB-209582EEC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C2061-C4CA-B4B2-8063-638414607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5F4DB-431C-18BD-69C5-2346F905845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given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baud rate and 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modulation.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1000 baud, ASK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 bps </a:t>
            </a:r>
          </a:p>
        </p:txBody>
      </p:sp>
    </p:spTree>
    <p:extLst>
      <p:ext uri="{BB962C8B-B14F-4D97-AF65-F5344CB8AC3E}">
        <p14:creationId xmlns:p14="http://schemas.microsoft.com/office/powerpoint/2010/main" val="2197901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DD0E-5C0E-6A86-2CB3-40450302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35B2B-4C44-BF47-2612-7207722614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bits per baud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following techniques?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ASK with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amplitudes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FSK with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eight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frequencies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PSK with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phases</a:t>
            </a:r>
          </a:p>
        </p:txBody>
      </p:sp>
    </p:spTree>
    <p:extLst>
      <p:ext uri="{BB962C8B-B14F-4D97-AF65-F5344CB8AC3E}">
        <p14:creationId xmlns:p14="http://schemas.microsoft.com/office/powerpoint/2010/main" val="4232957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402E1-F919-D611-BA2B-F3BE5BE61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7DE68-4683-8E73-FB83-6294C8B8B0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in analog transmission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</a:p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= log</a:t>
            </a:r>
            <a:r>
              <a:rPr lang="en-US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L,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 is the number of different signal elements.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ASK with four different amplitudes →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bits per baud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FSK with eight different frequencies →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bits per baud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PSK with four different phases →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bits per baud</a:t>
            </a:r>
          </a:p>
          <a:p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83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38F54-3229-5990-2101-308A3B9F1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24B9D-2154-AC27-BF4C-5EE4A07B15E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spcBef>
                <a:spcPts val="0"/>
              </a:spcBef>
              <a:buClrTx/>
              <a:buSzTx/>
              <a:defRPr/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Multiplexing techniques: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ClrTx/>
              <a:buSzTx/>
              <a:defRPr/>
            </a:pPr>
            <a:r>
              <a:rPr lang="en-US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Frequency-division multiplexing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ClrTx/>
              <a:buSzTx/>
              <a:defRPr/>
            </a:pPr>
            <a:r>
              <a:rPr lang="en-US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Wavelength-division multiplexing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ClrTx/>
              <a:buSzTx/>
              <a:defRPr/>
            </a:pPr>
            <a:r>
              <a:rPr lang="en-US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Time-division multiplexing</a:t>
            </a:r>
          </a:p>
        </p:txBody>
      </p:sp>
    </p:spTree>
    <p:extLst>
      <p:ext uri="{BB962C8B-B14F-4D97-AF65-F5344CB8AC3E}">
        <p14:creationId xmlns:p14="http://schemas.microsoft.com/office/powerpoint/2010/main" val="29038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61F5-A577-1561-A4C7-1729D3BA2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359D5-5734-B635-467A-B925C0CF682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Today’s technology includes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high-bandwidth media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satellite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microwaves.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has a bandwidth far in excess of that needed for the average transmission signal.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bandwidth of a link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greater than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bandwidth needs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devices connected to it, the bandwidth is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system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maximizes the utilization of all resources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bandwidth is one of the most precious resources we have in data communications.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913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E06FE-35F6-CA98-710F-AB98E97B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0E62E-2BD3-C9B3-4C45-A09F3BCD145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Whenever the bandwidth of a medium linking two devices is greater than the band width needs of the devices,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link can be shared. 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set of techniques that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 the simultaneous transmission of multiple signals across a single data link.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4F0A2E-B01F-18CF-367F-430F20F86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23360"/>
            <a:ext cx="8033131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599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DEED8-3611-5927-CDE1-5F4082021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16814-4000-8475-C807-F354FF68E1C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multiplexed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lines share the bandwidth of one link.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lines on the left direct their transmission streams to a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multiplexer (MUX),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them into a single stream (many-to one).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receiving end, that stream is fed into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demultiplexer (DEMUX),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stream back into its component transmissions (one-to-many) and directs them to their corresponding lines.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path.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portion of a link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carries a transmission between a given pair of lines. </a:t>
            </a:r>
          </a:p>
          <a:p>
            <a:pPr algn="just"/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link can have many (n) channels.</a:t>
            </a:r>
          </a:p>
        </p:txBody>
      </p:sp>
    </p:spTree>
    <p:extLst>
      <p:ext uri="{BB962C8B-B14F-4D97-AF65-F5344CB8AC3E}">
        <p14:creationId xmlns:p14="http://schemas.microsoft.com/office/powerpoint/2010/main" val="1218194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95085-E6CA-126D-641B-377DEF28B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Multiplexing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9E7C3-835E-D56F-106B-316AE64B46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basic multiplexing techniques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frequency-division multiplexing, wavelength-division multiplexing, and time-division multiplexing.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two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techniques designed for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signals,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22B589-DD4C-5714-691B-D7E5537E5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505200"/>
            <a:ext cx="7581986" cy="257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95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ADCA3-155E-D641-D566-BD728C969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Frequency-Division Multiplexing (FDM)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8D89C-AAFB-26A9-97A1-968FADA0B12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 that can be applied when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bandwidth of a link (in hertz)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greater than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combined bandwidths of the signals to be transmitted.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signals generated by each sending device modulate different carrier frequencies.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modulated signals are then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 into a single composite signal that can be transported by the link.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B3390-8DF1-11C9-D9A5-D0E761343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4382589"/>
            <a:ext cx="6019800" cy="177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5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DDFB-08FA-A5C1-FF6D-A4076283C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Frequency-Division 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F7243-D923-DECE-E210-7D5418656E7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Carrier frequencies are separated by sufficient bandwidth to accommodate the modulated signal.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bandwidth ranges are the channels through which the various signals travel.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Channels can be separated by strips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unused bandwidth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guard bands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—to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 signals from overlapping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addition,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carrier frequencies must not interfere with the original data frequencies. </a:t>
            </a:r>
          </a:p>
        </p:txBody>
      </p:sp>
    </p:spTree>
    <p:extLst>
      <p:ext uri="{BB962C8B-B14F-4D97-AF65-F5344CB8AC3E}">
        <p14:creationId xmlns:p14="http://schemas.microsoft.com/office/powerpoint/2010/main" val="284002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05238-B3F7-5180-82CF-D28C5953A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Frequency-Division 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8ABBD-A8EF-B3C1-AB7A-9F5E7CC5D34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consider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 an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multiplexing technique; however, this does not mean that FDM cannot be used to combine sources sending digital signals.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signal can be converted to an analog signal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(with the techniques discussed in Chapter 5) before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FDM is used to multiplex them.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BAB9A4-B8AC-C406-A1EC-1DA689CF0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214296"/>
            <a:ext cx="8153400" cy="84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57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86FF-09D6-2B0D-9B25-A62A58945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FDM Multiplexing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2A76A-8B1C-3E12-2B70-CA6B5417EB0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source generates a signal of a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frequency range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multiplexer, these similar signals modulates different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carrier frequencies (f1, f2, and f3).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resulting modulated signals are then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 into a single composite signal that is sent out over a media link that has enough bandwidth to accommodate it.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E0CBF0-5B0F-7304-7342-624D46934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733800"/>
            <a:ext cx="6019800" cy="317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898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CEB2A-BFA4-514E-706E-CEBDEBD3C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FDM Demultiplexing Process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2C4AD-D7EF-19BF-EB67-305F3C28B11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de-multiplexer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series of filters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decompose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multiplexed signal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its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constituent component signals.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individual signals are then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passed to a demodulator that separates them from their carriers and passes them to the output lines.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1954D-8568-6850-2172-980C8E99B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790926"/>
            <a:ext cx="5648258" cy="291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661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0D3C-405C-F4D9-ED13-BE8017BD1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04AA5-BA46-CC80-AA32-349FE98C2F4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that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channel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occupies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bandwidth of 4 kHz.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 three voice channels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a link with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bandwidth of 12 kHz, from 20 to 32 kHz.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the configuration, using the frequency domain.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Assume there are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guard bands.</a:t>
            </a:r>
          </a:p>
        </p:txBody>
      </p:sp>
    </p:spTree>
    <p:extLst>
      <p:ext uri="{BB962C8B-B14F-4D97-AF65-F5344CB8AC3E}">
        <p14:creationId xmlns:p14="http://schemas.microsoft.com/office/powerpoint/2010/main" val="3102349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0BCA-4866-9527-6B50-6352A9E7A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49226E-2277-3684-8F0D-626CE1901F0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762000" y="1219200"/>
            <a:ext cx="7315200" cy="4951828"/>
          </a:xfrm>
        </p:spPr>
      </p:pic>
    </p:spTree>
    <p:extLst>
      <p:ext uri="{BB962C8B-B14F-4D97-AF65-F5344CB8AC3E}">
        <p14:creationId xmlns:p14="http://schemas.microsoft.com/office/powerpoint/2010/main" val="7089233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A933B-2478-89D5-AA66-3DB076BAD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98401-B6C7-0115-763E-2FBDBC8BC38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channels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each with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100-kHz bandwidth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are to be multiplexed together.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bandwidth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link if there is a need for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guard band of 10 kHz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channels to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 interference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412788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823AB-2D00-BA0E-C01C-45988E03D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11BE-14E1-DCBF-BA26-E907E903BEA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channels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need at least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guard bands.</a:t>
            </a:r>
            <a:endParaRPr lang="ar-EG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the required bandwidth is at least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× 100 + 4 × 10 = 540 kHz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AF647-052B-487C-BA7E-A80F1F451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581400"/>
            <a:ext cx="7879159" cy="286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8065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E0BD0-C3A2-30A5-2844-B199AC771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81245-AFC5-EE9B-9C9B-E527B9A69DD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data channels (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transmitting at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Mbps,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satellite channel of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MHz.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appropriate configuration, using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23160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51F0B-B27C-3C88-8489-491961171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1D306-1EB2-26E8-860B-B1073B57D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digital-to-analog conversion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4FB880-033F-4519-52EB-3CCF75B48F9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09600" y="2286000"/>
            <a:ext cx="7577165" cy="2760673"/>
          </a:xfrm>
        </p:spPr>
      </p:pic>
    </p:spTree>
    <p:extLst>
      <p:ext uri="{BB962C8B-B14F-4D97-AF65-F5344CB8AC3E}">
        <p14:creationId xmlns:p14="http://schemas.microsoft.com/office/powerpoint/2010/main" val="33123626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95610-1AC9-EADB-B2B8-620957074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767FCC-E7AD-69AE-1053-62F81E4D5EC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76200" y="76200"/>
            <a:ext cx="8991600" cy="6375487"/>
          </a:xfrm>
        </p:spPr>
      </p:pic>
    </p:spTree>
    <p:extLst>
      <p:ext uri="{BB962C8B-B14F-4D97-AF65-F5344CB8AC3E}">
        <p14:creationId xmlns:p14="http://schemas.microsoft.com/office/powerpoint/2010/main" val="678185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9B17B-99DF-134F-32AA-5D6BA7A78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B3F55-6EFF-7F64-6435-D688756B115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895600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channel is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divide it into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channels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each channel having a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250-kHz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bandwidth.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digital channel of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Mbps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modulated such that each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bits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modulated to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1Hz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(i.e.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4*250=1000 kbps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solution is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16-QAM modulation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Figure shows one possible configuration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A46E89-13B8-93A8-4B9B-63D282AE7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191000"/>
            <a:ext cx="5257501" cy="261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2274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35DEB-33B9-5C7D-CDC1-2EBB796E5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Wavelength-Division Multiplexing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(WDM)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32C8F-EC45-0769-8AD9-AF45CC6779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WDM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 use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high-data-rate capability of fiber-optic cable.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 data rate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higher than the data rate of metallic transmission cable, but using a fiber-optic cable for a single line wastes the available bandwidth. 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us to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 several lines into one.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4D8A7E-D80A-578B-1A2C-214D9F7D3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91000"/>
            <a:ext cx="7491621" cy="218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0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F717-F3BA-ABF7-2D54-BE470D2B4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Wavelength-Division 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50030-9B12-3420-437B-68E2811F4AC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WDM is conceptually the same as FDM, except that the multiplexing and demultiplexing involve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signals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transmitted through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fiber-optic channels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idea is the same: We are combining different signals of different frequencies.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is that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frequencies are very high.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387CFC-9920-2151-8521-56818461F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242559"/>
            <a:ext cx="7924800" cy="92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5571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A1335-4AF2-CC7F-DA9F-9D3F8CB5A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Division Multiplexing</a:t>
            </a:r>
            <a:r>
              <a:rPr lang="ar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(TDM)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8D988-B17A-BBCD-9252-9F64FD2A65B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TDM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digital process that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several connections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 the high bandwidth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link.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sharing a portion of the bandwidth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connection occupies a portion of time in the link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88740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B98B9-1AAA-E4F0-B6C4-6D113C504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Division 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76CA7-52FE-BFF3-EB01-23FEAF6E6E4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TDM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into fixed-size frames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each frame consisting of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number of time slots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slot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carry a portion of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separate signal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Signals are interleaved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frames in a repeating sequence.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TDM is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technique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requires signals to be converted to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form before transmission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divide TDM into two different schemes: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synchronous and statistical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92B3AE-189F-7EDC-F562-DEA48A2ED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325257"/>
            <a:ext cx="6858000" cy="136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2035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5B038-A90F-0993-4528-E545C41EE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Division Multiplexing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84574B-E525-31B8-29EE-122EFC112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219200"/>
            <a:ext cx="6453094" cy="27711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2659B6-2C49-E234-2297-1467CC78F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842" y="3886200"/>
            <a:ext cx="6741758" cy="267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7713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A605E-918B-7FAC-BC75-BC8FF11A6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TDM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D09F1-A74E-6AAD-F8E5-F8510A36CC8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676400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have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connections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frame is divided into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time slots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slot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allocated for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unit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one for each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line.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duration of the input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is T,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duration of each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T/n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duration of each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is T.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08C1C9-31FB-EFEB-97A2-C1DB53936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895600"/>
            <a:ext cx="5867400" cy="2326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A215BC-F42C-80EE-5BE1-02DCA6ED2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334000"/>
            <a:ext cx="7693306" cy="120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192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92C4-9C76-AA99-95CC-3B42B598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68C83-310E-396C-D49A-3B58DCA7770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Figure below,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input connection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kbps.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bit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 time is multiplexed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 unit is 1 bit),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duration of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each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slot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each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slot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each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59613D-2D06-C483-CD71-2A8D171DF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3611282"/>
            <a:ext cx="5189218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2274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258C2-6C73-42CE-544E-C8C5A44CF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241E4-3973-5700-DFA1-266FC0D4D4E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answer the questions as follows: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each input connection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kbps.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duration is 1/1000 s or 1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duration of the input time slot is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(same as bit duration).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duration of each output time slot is one-third of the input time slot. This means that the duration of the output time slot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1/3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frame carries three output time slots. So the duration of a frame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× 1/3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1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duration of a frame is the same as the duration of an input unit.</a:t>
            </a:r>
          </a:p>
        </p:txBody>
      </p:sp>
    </p:spTree>
    <p:extLst>
      <p:ext uri="{BB962C8B-B14F-4D97-AF65-F5344CB8AC3E}">
        <p14:creationId xmlns:p14="http://schemas.microsoft.com/office/powerpoint/2010/main" val="28748005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0BF14-0663-D359-CEEE-1540D3F57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3680A-BBE6-DFC7-1517-A90E26C378B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Figure below, synchronous TDM with a data stream for each input and one data stream for the output.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unit of data is 1 bit.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the input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duration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the output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duration,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the output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rate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the output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rate.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12F932-0769-0BAD-13EA-D35901DCE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724400"/>
            <a:ext cx="7496088" cy="208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0476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7A298-ACDF-3CD5-1303-5247E25E9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9F213-409E-1641-8AF6-F02A30C1868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answer the questions as follows: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bit duration is the inverse of the bit rate: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1/1 Mbps = 1 (microsecond)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μs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bit duration is one-fourth of the input bit duration, or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1/4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μs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rate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inverse of the output bit duration, or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1/4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μs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4 Mbps.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also be deduced from the fact that the output rate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times as fast as any input 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so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rate = 4 × 1 Mbps = 4 Mbps.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rate is always the same as any input rate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the frame rate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1,000,000 frames per second.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we are sending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bits in each frame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can verify the result of the previous question by multiplying the frame rate by the number of bits per frame.</a:t>
            </a:r>
          </a:p>
        </p:txBody>
      </p:sp>
    </p:spTree>
    <p:extLst>
      <p:ext uri="{BB962C8B-B14F-4D97-AF65-F5344CB8AC3E}">
        <p14:creationId xmlns:p14="http://schemas.microsoft.com/office/powerpoint/2010/main" val="1451251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C8DC1-4DEE-638A-6F5C-E7731AFCC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7EE46-6D72-2375-2A81-5FD7A7CAB11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1-kbps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connections are multiplexed together.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unit is 1 bit.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duration of 1 bit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multiplexing,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rate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link,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duration of a time slot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duration of a frame.</a:t>
            </a:r>
          </a:p>
        </p:txBody>
      </p:sp>
    </p:spTree>
    <p:extLst>
      <p:ext uri="{BB962C8B-B14F-4D97-AF65-F5344CB8AC3E}">
        <p14:creationId xmlns:p14="http://schemas.microsoft.com/office/powerpoint/2010/main" val="41485437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F6027-6E22-6442-86C2-55BFB76B2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433D4-C181-A7B9-16E4-CAD5936772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05800" cy="5257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answer the questions as follows: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duration of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bit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multiplexing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1/1 kbps, or 0.001 s (1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rate of the link is 4 times the rate of a connection,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4 kbps.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duration of each time slot is one-fourth of the duration of each bit before multiplexing, or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1/4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250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μs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 that we can also calculate this from the data rate of the link, 4 kbps. The bit duration is the inverse of the data rate, or 1/4 kbps or 250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duration of a frame is always the same as the duration of a unit before multiplexing, or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also calculate this in another way. Each frame in this case has four time slots. So the duration of a frame is 4 times 250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1819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8C536-20ED-D4D3-552A-D3E88BC7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Interleaving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421899-9788-6F04-97A1-FCA45688BD5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33399" y="1905000"/>
            <a:ext cx="8159437" cy="3429000"/>
          </a:xfrm>
        </p:spPr>
      </p:pic>
    </p:spTree>
    <p:extLst>
      <p:ext uri="{BB962C8B-B14F-4D97-AF65-F5344CB8AC3E}">
        <p14:creationId xmlns:p14="http://schemas.microsoft.com/office/powerpoint/2010/main" val="16485017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AA8C4-39F4-40C8-2B3B-00C5E3175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D5CA7-5515-8C95-FADB-B8083597FA6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channels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multiplexed using TDM. If each channel sends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bytes/s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we multiplex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byte per channel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show: </a:t>
            </a:r>
            <a:endParaRPr lang="ar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the frame traveling on the link </a:t>
            </a:r>
            <a:endParaRPr lang="ar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the size of the frame </a:t>
            </a:r>
            <a:endParaRPr lang="ar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the duration of a frame </a:t>
            </a:r>
            <a:endParaRPr lang="ar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the frame rate </a:t>
            </a:r>
            <a:endParaRPr lang="ar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the bit rate for the link</a:t>
            </a:r>
          </a:p>
        </p:txBody>
      </p:sp>
    </p:spTree>
    <p:extLst>
      <p:ext uri="{BB962C8B-B14F-4D97-AF65-F5344CB8AC3E}">
        <p14:creationId xmlns:p14="http://schemas.microsoft.com/office/powerpoint/2010/main" val="40441174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2A702-12DF-F843-A295-F3B643D50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D2D3C-1E70-83E1-DB07-AFD5CFF5E25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multiplexer is shown in Figure 6.16.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carries 1 byte from each channel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the size of each frame, therefore,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bytes, or 32 bits.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each channel is sending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bytes/s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 frame carries 1 byte from each channel, the frame rate must be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frames per second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bit rate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× 32, or 3200 bps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954D3A-7D96-8A85-FF26-2C09CE4BF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4457700"/>
            <a:ext cx="6527547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393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4044E-8D10-99A4-7C20-9E9DE5C7F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Slots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47C188-8CAE-0F0F-B031-D56BE4C3AD3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96332" y="2590799"/>
            <a:ext cx="8014267" cy="3540821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B52C9F-99A7-54A8-A239-2AEFE4BEF13D}"/>
              </a:ext>
            </a:extLst>
          </p:cNvPr>
          <p:cNvSpPr txBox="1"/>
          <p:nvPr/>
        </p:nvSpPr>
        <p:spPr>
          <a:xfrm>
            <a:off x="457200" y="1295400"/>
            <a:ext cx="8153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source does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have data to send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corresponding slot in the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frame is empty. </a:t>
            </a:r>
          </a:p>
        </p:txBody>
      </p:sp>
    </p:spTree>
    <p:extLst>
      <p:ext uri="{BB962C8B-B14F-4D97-AF65-F5344CB8AC3E}">
        <p14:creationId xmlns:p14="http://schemas.microsoft.com/office/powerpoint/2010/main" val="42261766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50A2-B50D-9A00-C328-C8CDD3192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Rate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AF243-87BC-B578-227A-CA20F2A6147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problem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how to handle a disparity in the input data rates.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data rates are not the same, three strategies, or a combination of them, can be used.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strategie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to handle a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disparity in the input data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rates 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Multilevel multiplexing, 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Multiple-slot allocation 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Pulse stuffing</a:t>
            </a:r>
          </a:p>
        </p:txBody>
      </p:sp>
    </p:spTree>
    <p:extLst>
      <p:ext uri="{BB962C8B-B14F-4D97-AF65-F5344CB8AC3E}">
        <p14:creationId xmlns:p14="http://schemas.microsoft.com/office/powerpoint/2010/main" val="4858044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4055F-C42B-D597-3C88-7EB3E8106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Multilevel multiplexing: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602BC-36EB-CBBD-A979-9B12DC002DF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 when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rate of an input line is a multiple of others.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Figure, we have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inputs of 20 kbps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inputs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 kbps.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two input lines can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multiplexed together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data rate equal to the last three.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second level of multiplexing can create an output of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160 kbps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DDC7FF-E447-F31D-BC6A-473C4006D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4379125"/>
            <a:ext cx="5867400" cy="232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461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BC043-6007-6450-BBD6-B38CE0311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Multiple-slot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74000-7B6C-77ED-F953-E96867923B3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more efficient to allocate more than one slot in a frame to a single input line.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we might have an input line that has a data rate that is a multiple of another input.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Figure , the input line with a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50-kbps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rate can be given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slots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output.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insert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serial-to-parallel converter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line to make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inputs out of 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104CBF-A942-EDB6-FD3C-A3C368AB3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4724400"/>
            <a:ext cx="6096000" cy="207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3823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94076-5284-4C3D-1DCA-0BAA25AE2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stuffing: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F2083-FED7-D8DA-D306-2C4541C8C87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rates of sources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multiple integers of each other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solution is to make the highest input data rate the dominant data rate and then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dummy bits to the input lines with lower rates.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their rates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is called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pulse stuffing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padding, or bit stuffing.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idea is shown in Figure 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43A8CF-B894-7347-92D2-ED10D37E4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4953000"/>
            <a:ext cx="4638041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1214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Exercises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347D7-692C-3A4A-48CA-92D1A2E3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or False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67DAD-5120-3F58-7AB1-B47D9F2DB72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Multiplexing can only be used for analog signals.</a:t>
            </a: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FDM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most commonly used in digital communication systems.</a:t>
            </a: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Guard bands in FDM help prevent interference between channels.</a:t>
            </a:r>
            <a:br>
              <a:rPr lang="en-US" sz="1800" b="1" kern="100" dirty="0">
                <a:solidFill>
                  <a:srgbClr val="FF0000"/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endParaRPr lang="en-US" sz="1800" b="1" kern="100" dirty="0">
              <a:solidFill>
                <a:srgbClr val="FF0000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8008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EA142-B3B9-37B5-7E38-B4757C5B9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36E9-2FEE-BA64-1FB7-DE7D52D8F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or False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AD609-F1AB-4E43-99D3-A6A2A5A94A6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Multiplexing can only be used for analog signals.</a:t>
            </a: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FDM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most commonly used in digital communication systems.</a:t>
            </a: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Guard bands in FDM help prevent interference between channels.</a:t>
            </a:r>
            <a:br>
              <a:rPr lang="en-US" sz="1800" b="1" kern="100" dirty="0">
                <a:solidFill>
                  <a:srgbClr val="FF0000"/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endParaRPr lang="en-US" sz="1800" b="1" kern="100" dirty="0">
              <a:solidFill>
                <a:srgbClr val="FF0000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903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16618-AEC3-DF16-44B0-CBE58D3E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62283-94FE-7523-5BD0-78B27CB01EF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 Time-Division Multiplexing (TDM), how is the resource shared?</a:t>
            </a:r>
            <a:endParaRPr lang="en-US" sz="2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A) By dividing bandwidth.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B) By dividing time.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C) By dividing wavelengths.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D) By dividing power.</a:t>
            </a:r>
            <a:b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1556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A747-16B2-711E-4612-B5CE1C8F5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32C3F-6A36-C1A8-6313-EB79E4DCB9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Which technique involves adding dummy bits to align input data rates in TDM?</a:t>
            </a:r>
            <a:endParaRPr lang="en-US" sz="2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A) Multilevel multiplexing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B) Pulse stuffing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C) Guard band allocation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D) Multiple-slot allocation</a:t>
            </a:r>
            <a:b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4289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FE6DD-9872-AC46-E72C-6FCB48267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7B8A5-FB87-6C65-96E1-92037954F68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What is the function of a demultiplexer in a multiplexing system?</a:t>
            </a:r>
            <a:endParaRPr lang="en-US" sz="2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A) To combine signals into a composite stream.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B) To allocate bandwidth among signals.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C) To separate a multiplexed signal into individual streams.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D) To amplify the signals for transmission.</a:t>
            </a:r>
            <a:b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3949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Practical</a:t>
            </a:r>
          </a:p>
        </p:txBody>
      </p:sp>
    </p:spTree>
    <p:extLst>
      <p:ext uri="{BB962C8B-B14F-4D97-AF65-F5344CB8AC3E}">
        <p14:creationId xmlns:p14="http://schemas.microsoft.com/office/powerpoint/2010/main" val="19179946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E56D-48CD-AD07-97F9-05D0569A5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Multiplexer Simulator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B5279-E8C5-AB05-33C1-AB90E4F4080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working of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Time-Division Multiplexing (TDM)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where multiple data streams from different sources are combined into a single data stream and then demultiplexed back to their respective channels.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3390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B66BD-E134-1D96-4255-6520C7D6E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3E3E5-819E-380B-277A-6878F8CFF15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input data streams for multiple channels (e.g., channel1: [1, 0, 1], channel2: [0, 1, 0]).</a:t>
            </a:r>
          </a:p>
          <a:p>
            <a:pPr marL="800100" lvl="1" indent="-34290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to specify the number of channels and data units per channel.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Multiplexing: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the input streams into a single data stream using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Demultiplexing: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combined data stream back into the original data streams.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1429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10776</TotalTime>
  <Words>2773</Words>
  <Application>Microsoft Office PowerPoint</Application>
  <PresentationFormat>On-screen Show (4:3)</PresentationFormat>
  <Paragraphs>245</Paragraphs>
  <Slides>65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5" baseType="lpstr">
      <vt:lpstr>Aptos</vt:lpstr>
      <vt:lpstr>Arial</vt:lpstr>
      <vt:lpstr>Bookman Old Style</vt:lpstr>
      <vt:lpstr>Calibri</vt:lpstr>
      <vt:lpstr>Courier New</vt:lpstr>
      <vt:lpstr>Gill Sans MT</vt:lpstr>
      <vt:lpstr>Times New Roman</vt:lpstr>
      <vt:lpstr>Wingdings</vt:lpstr>
      <vt:lpstr>Wingdings 3</vt:lpstr>
      <vt:lpstr>Origin</vt:lpstr>
      <vt:lpstr>Chapter 6:  Bandwidth Utilization: Multiplexing and Spectrum Spreading </vt:lpstr>
      <vt:lpstr>Revision</vt:lpstr>
      <vt:lpstr>Line Coding</vt:lpstr>
      <vt:lpstr>Line Coding Schemes</vt:lpstr>
      <vt:lpstr>Find the 8-bit data stream for each case depicted in Figure 4.36. </vt:lpstr>
      <vt:lpstr>Find the 8-bit data stream for each case depicted in Figure 4.36. </vt:lpstr>
      <vt:lpstr>PowerPoint Presentation</vt:lpstr>
      <vt:lpstr>PowerPoint Presentation</vt:lpstr>
      <vt:lpstr>Solution </vt:lpstr>
      <vt:lpstr>DIGITAL-TO-ANALOG CONVERSION</vt:lpstr>
      <vt:lpstr>Types of digital-to-analog conversion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Bandwidth</vt:lpstr>
      <vt:lpstr>MULTIPLEXING</vt:lpstr>
      <vt:lpstr>MULTIPLEXING</vt:lpstr>
      <vt:lpstr>Multiplexing techniques</vt:lpstr>
      <vt:lpstr>Frequency-Division Multiplexing (FDM)</vt:lpstr>
      <vt:lpstr>Frequency-Division Multiplexing</vt:lpstr>
      <vt:lpstr>Frequency-Division Multiplexing</vt:lpstr>
      <vt:lpstr>FDM Multiplexing Process</vt:lpstr>
      <vt:lpstr>FDM Demultiplexing Process </vt:lpstr>
      <vt:lpstr>Example</vt:lpstr>
      <vt:lpstr>Solution </vt:lpstr>
      <vt:lpstr>Example</vt:lpstr>
      <vt:lpstr>Solution </vt:lpstr>
      <vt:lpstr>Example</vt:lpstr>
      <vt:lpstr>Types of digital-to-analog conversion</vt:lpstr>
      <vt:lpstr>PowerPoint Presentation</vt:lpstr>
      <vt:lpstr>Solution</vt:lpstr>
      <vt:lpstr>Wavelength-Division Multiplexing (WDM) </vt:lpstr>
      <vt:lpstr>Wavelength-Division Multiplexing</vt:lpstr>
      <vt:lpstr>Time Division Multiplexing (TDM) </vt:lpstr>
      <vt:lpstr>Time Division Multiplexing</vt:lpstr>
      <vt:lpstr>Time Division Multiplexing</vt:lpstr>
      <vt:lpstr>Synchronous TDM</vt:lpstr>
      <vt:lpstr>Example</vt:lpstr>
      <vt:lpstr>Solution</vt:lpstr>
      <vt:lpstr>Example</vt:lpstr>
      <vt:lpstr>Solution</vt:lpstr>
      <vt:lpstr>Example</vt:lpstr>
      <vt:lpstr>Solution </vt:lpstr>
      <vt:lpstr>Interleaving</vt:lpstr>
      <vt:lpstr>Example :</vt:lpstr>
      <vt:lpstr>Solution</vt:lpstr>
      <vt:lpstr>Empty Slots</vt:lpstr>
      <vt:lpstr>Data Rate Management</vt:lpstr>
      <vt:lpstr>Multilevel multiplexing:</vt:lpstr>
      <vt:lpstr>Multiple-slot allocation</vt:lpstr>
      <vt:lpstr>Pulse stuffing:</vt:lpstr>
      <vt:lpstr>Exercises </vt:lpstr>
      <vt:lpstr>True or False</vt:lpstr>
      <vt:lpstr>True or False</vt:lpstr>
      <vt:lpstr>PowerPoint Presentation</vt:lpstr>
      <vt:lpstr>PowerPoint Presentation</vt:lpstr>
      <vt:lpstr>PowerPoint Presentation</vt:lpstr>
      <vt:lpstr>Practical</vt:lpstr>
      <vt:lpstr>Project Title: Multiplexer Simulator</vt:lpstr>
      <vt:lpstr>Features: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Marwa Fekry</dc:creator>
  <cp:lastModifiedBy>Dr. Marwa Fikry</cp:lastModifiedBy>
  <cp:revision>172</cp:revision>
  <dcterms:created xsi:type="dcterms:W3CDTF">2006-08-16T00:00:00Z</dcterms:created>
  <dcterms:modified xsi:type="dcterms:W3CDTF">2024-12-03T00:24:03Z</dcterms:modified>
</cp:coreProperties>
</file>