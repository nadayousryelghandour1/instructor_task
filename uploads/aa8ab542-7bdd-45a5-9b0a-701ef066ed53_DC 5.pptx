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52"/>
  </p:notesMasterIdLst>
  <p:sldIdLst>
    <p:sldId id="256" r:id="rId2"/>
    <p:sldId id="463" r:id="rId3"/>
    <p:sldId id="494" r:id="rId4"/>
    <p:sldId id="528" r:id="rId5"/>
    <p:sldId id="529" r:id="rId6"/>
    <p:sldId id="530" r:id="rId7"/>
    <p:sldId id="531" r:id="rId8"/>
    <p:sldId id="532" r:id="rId9"/>
    <p:sldId id="533" r:id="rId10"/>
    <p:sldId id="534" r:id="rId11"/>
    <p:sldId id="535" r:id="rId12"/>
    <p:sldId id="412" r:id="rId13"/>
    <p:sldId id="495" r:id="rId14"/>
    <p:sldId id="498" r:id="rId15"/>
    <p:sldId id="510" r:id="rId16"/>
    <p:sldId id="499" r:id="rId17"/>
    <p:sldId id="501" r:id="rId18"/>
    <p:sldId id="500" r:id="rId19"/>
    <p:sldId id="502" r:id="rId20"/>
    <p:sldId id="503" r:id="rId21"/>
    <p:sldId id="504" r:id="rId22"/>
    <p:sldId id="505" r:id="rId23"/>
    <p:sldId id="506" r:id="rId24"/>
    <p:sldId id="507" r:id="rId25"/>
    <p:sldId id="508" r:id="rId26"/>
    <p:sldId id="509" r:id="rId27"/>
    <p:sldId id="511" r:id="rId28"/>
    <p:sldId id="512" r:id="rId29"/>
    <p:sldId id="513" r:id="rId30"/>
    <p:sldId id="516" r:id="rId31"/>
    <p:sldId id="517" r:id="rId32"/>
    <p:sldId id="519" r:id="rId33"/>
    <p:sldId id="537" r:id="rId34"/>
    <p:sldId id="520" r:id="rId35"/>
    <p:sldId id="521" r:id="rId36"/>
    <p:sldId id="522" r:id="rId37"/>
    <p:sldId id="538" r:id="rId38"/>
    <p:sldId id="523" r:id="rId39"/>
    <p:sldId id="539" r:id="rId40"/>
    <p:sldId id="290" r:id="rId41"/>
    <p:sldId id="416" r:id="rId42"/>
    <p:sldId id="540" r:id="rId43"/>
    <p:sldId id="524" r:id="rId44"/>
    <p:sldId id="525" r:id="rId45"/>
    <p:sldId id="526" r:id="rId46"/>
    <p:sldId id="527" r:id="rId47"/>
    <p:sldId id="401" r:id="rId48"/>
    <p:sldId id="496" r:id="rId49"/>
    <p:sldId id="403" r:id="rId50"/>
    <p:sldId id="497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2" autoAdjust="0"/>
    <p:restoredTop sz="89334" autoAdjust="0"/>
  </p:normalViewPr>
  <p:slideViewPr>
    <p:cSldViewPr>
      <p:cViewPr varScale="1">
        <p:scale>
          <a:sx n="80" d="100"/>
          <a:sy n="80" d="100"/>
        </p:scale>
        <p:origin x="930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C8AE7-6413-4430-9123-6C2E9B1CD732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342BE2-83AA-45C7-88D2-6BE654433A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70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73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74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 18 38  H 13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1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163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21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35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7D4A2-694E-7560-2091-08784EE08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817CA-D1D5-78FC-7E2D-D0192BCB0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4989C-1386-5AE9-460E-964C7880F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00287-E0CD-9135-879C-E5B6C5319F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0742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Manchester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52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Answer: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B) Positive, zero, and negative voltage levels are used, with "1" represented by alternating polarities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04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Answer:</a:t>
            </a:r>
            <a: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C) Signal distortion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091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Answer: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B) DC component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867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42BE2-83AA-45C7-88D2-6BE654433A2D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72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D21A8-0EE2-44DC-80A0-A0237E09B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3733800"/>
            <a:ext cx="7467600" cy="1219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itchFamily="18" charset="0"/>
              </a:rPr>
              <a:t>Chapter </a:t>
            </a:r>
            <a:r>
              <a:rPr lang="ar-EG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itchFamily="18" charset="0"/>
              </a:rPr>
              <a:t>4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:</a:t>
            </a:r>
            <a:r>
              <a:rPr lang="en-US" sz="4400" b="1" dirty="0">
                <a:latin typeface="Times New Roman" panose="02020603050405020304" pitchFamily="18" charset="0"/>
                <a:cs typeface="Times New Roman" pitchFamily="18" charset="0"/>
              </a:rPr>
              <a:t>Digital Transmission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5334000"/>
            <a:ext cx="731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470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Revision </a:t>
            </a:r>
          </a:p>
        </p:txBody>
      </p:sp>
    </p:spTree>
    <p:extLst>
      <p:ext uri="{BB962C8B-B14F-4D97-AF65-F5344CB8AC3E}">
        <p14:creationId xmlns:p14="http://schemas.microsoft.com/office/powerpoint/2010/main" val="3462978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3C4E2-4461-D257-1424-9B2AC174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F780F-CADD-A950-DF00-D0A1A5BA574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theoretical capacity of a channel in each of the following cases? 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Bandwidth: 1 MHz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SNRdB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20</a:t>
            </a:r>
          </a:p>
        </p:txBody>
      </p:sp>
    </p:spTree>
    <p:extLst>
      <p:ext uri="{BB962C8B-B14F-4D97-AF65-F5344CB8AC3E}">
        <p14:creationId xmlns:p14="http://schemas.microsoft.com/office/powerpoint/2010/main" val="2372927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2EBBF0-79B7-2477-E9D6-684064D85B4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33400" y="1371600"/>
            <a:ext cx="8229600" cy="503885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3E4082-348B-1382-F7F9-72BA04EC9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76200"/>
            <a:ext cx="4750379" cy="990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718FE3-3377-98FA-11DF-3F6C1ED18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3276600"/>
            <a:ext cx="2876557" cy="49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579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D0A58-9BA9-FE2B-DE0E-94522C3B4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89D6C-6DFA-41D3-618D-F8BF4332353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delay (latency)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of size 5 million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is being sent on a link with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routers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having 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queuing time of 2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μs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 time of 1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μs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link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2000 Km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light inside the link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× 108 m/s.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link has 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bandwidth of 5 Mbps.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component of the total delay is dominant?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one is negligible?</a:t>
            </a:r>
          </a:p>
        </p:txBody>
      </p:sp>
    </p:spTree>
    <p:extLst>
      <p:ext uri="{BB962C8B-B14F-4D97-AF65-F5344CB8AC3E}">
        <p14:creationId xmlns:p14="http://schemas.microsoft.com/office/powerpoint/2010/main" val="900415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F526-6A35-13F7-9C64-29330F06E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6729E2D-850E-326B-F5BE-20411B22D92A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81000" y="3198092"/>
            <a:ext cx="8158721" cy="46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49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D457D4-C647-9E04-365F-A2F522FD353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04800" y="1752600"/>
            <a:ext cx="8393053" cy="3581400"/>
          </a:xfrm>
        </p:spPr>
      </p:pic>
    </p:spTree>
    <p:extLst>
      <p:ext uri="{BB962C8B-B14F-4D97-AF65-F5344CB8AC3E}">
        <p14:creationId xmlns:p14="http://schemas.microsoft.com/office/powerpoint/2010/main" val="2308271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88380-4C06-E24D-AEA8-1AF345DF7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25FAB0-CFAC-0E70-0310-6B3E8F74A8E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0070" y="1828800"/>
            <a:ext cx="9023860" cy="3657600"/>
          </a:xfrm>
        </p:spPr>
      </p:pic>
    </p:spTree>
    <p:extLst>
      <p:ext uri="{BB962C8B-B14F-4D97-AF65-F5344CB8AC3E}">
        <p14:creationId xmlns:p14="http://schemas.microsoft.com/office/powerpoint/2010/main" val="1668292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F4268-BEEA-6569-52A1-9940B12C7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8B2769D-2092-BF33-51D2-EDEEAB84066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25992" y="2466178"/>
            <a:ext cx="8409960" cy="2105822"/>
          </a:xfrm>
        </p:spPr>
      </p:pic>
    </p:spTree>
    <p:extLst>
      <p:ext uri="{BB962C8B-B14F-4D97-AF65-F5344CB8AC3E}">
        <p14:creationId xmlns:p14="http://schemas.microsoft.com/office/powerpoint/2010/main" val="341887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83BFC-CEAF-7D3D-EB7A-C4803E034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E01E06-029D-EDF3-B9FC-F28B61C84A7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39749" y="2514600"/>
            <a:ext cx="8064501" cy="2057400"/>
          </a:xfrm>
        </p:spPr>
      </p:pic>
    </p:spTree>
    <p:extLst>
      <p:ext uri="{BB962C8B-B14F-4D97-AF65-F5344CB8AC3E}">
        <p14:creationId xmlns:p14="http://schemas.microsoft.com/office/powerpoint/2010/main" val="3193775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39FCF-E7C0-CAF2-DE29-D73E653DC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51D65A-198D-C4C9-37DF-93EC3BDEABF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54742" y="2286000"/>
            <a:ext cx="7924801" cy="2819400"/>
          </a:xfrm>
        </p:spPr>
      </p:pic>
    </p:spTree>
    <p:extLst>
      <p:ext uri="{BB962C8B-B14F-4D97-AF65-F5344CB8AC3E}">
        <p14:creationId xmlns:p14="http://schemas.microsoft.com/office/powerpoint/2010/main" val="157983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38F54-3229-5990-2101-308A3B9F1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24B9D-2154-AC27-BF4C-5EE4A07B15E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Coding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Coding Schemes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Coding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Scrambling</a:t>
            </a:r>
          </a:p>
        </p:txBody>
      </p:sp>
    </p:spTree>
    <p:extLst>
      <p:ext uri="{BB962C8B-B14F-4D97-AF65-F5344CB8AC3E}">
        <p14:creationId xmlns:p14="http://schemas.microsoft.com/office/powerpoint/2010/main" val="29038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20551-9C1E-1464-9EA1-E51087FB3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DIGITAL-TO-DIGITAL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B042F-9FC2-9B0A-F907-5EE261143CB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section, we see how we can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 digital data by using digital signals.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conversion involves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techniques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coding,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coding,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Scrambling.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coding is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always needed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block coding and scrambling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or may not be needed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56420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202EF-D19B-8D3E-9EA6-484EB6245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D4CA8-BAFF-C2E8-2C56-917243D8742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coding converts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data to digital signals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data can be in the form of text, numbers, images, audio, or video.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stored in computer memory as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sequences of bits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digital data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encoded into a digital signal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digital data is recreated by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decoding the digital signal.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93D95D-28D5-D4FB-A133-2D41F8C63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4953000"/>
            <a:ext cx="6838908" cy="184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03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59CE2-5B56-8E28-6E57-7F2AE7C16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Coding: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B28C8-0021-EE40-7436-1403C9A3AD8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n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Element Versus Data Element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Rate Versus Signal Rate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Wandering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 component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Self-synchronization</a:t>
            </a:r>
          </a:p>
          <a:p>
            <a:endParaRPr lang="nn-NO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025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969D-574A-6E36-FFBB-91A73125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Element Versus Data Element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FEF8D-5926-2FEA-11C1-5A6E1F68231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element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smallest entity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can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 a piece of information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is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signal element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unit (timewise)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other words,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elements are what we need to send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elements are what we can send. 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elements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being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carried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elements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carriers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030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57AA0-6AC3-F54F-C7B4-A78314BBA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80CA4-5F2F-DD77-B1F6-4BA1A9597CB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define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ratio 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data elements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carried by each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element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each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element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who needs to be carried from one place to another.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think of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element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carry people.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=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means each person is driving a vehicle.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&gt; 1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means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than one person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travelling in a vehicle (a carpool, for example).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also have the case where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person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driving a car and a trailer (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= 1/2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025950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11D9E-D9B0-AE3E-BC0B-F00BE5F49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Element Versus Data Element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3FE16E-C4B4-D344-0F04-209C25AAF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43000"/>
            <a:ext cx="7239000" cy="582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50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499EA-B928-A971-E9E6-5F9FE7AF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Rate Versus Signal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374F3-077D-8180-24D8-E2A74E5E8D1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305800" cy="52578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 rate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defines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data elements (bits) sent in 1s.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unit is bits per second (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bps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 rate is sometimes called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rate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signal rate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number of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elements sent in 1s.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unit is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baud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signal rate is sometimes called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pulse rate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modulation rate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baud rate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43477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8828B-E404-E171-B600-FB0059B4F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Rate Versus Signal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18DAB-7C69-0E70-0952-5BC14644653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goal in data communications is to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the data rate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decreasing the signal 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the data rate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increases the speed of transmission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Decreasing the signal rate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decreases the bandwidth requirement.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vehicle-people analogy, we need to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carry more people in fewer vehicles to prevent traffic jams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a limited bandwidth in our transportation system. </a:t>
            </a:r>
          </a:p>
        </p:txBody>
      </p:sp>
    </p:spTree>
    <p:extLst>
      <p:ext uri="{BB962C8B-B14F-4D97-AF65-F5344CB8AC3E}">
        <p14:creationId xmlns:p14="http://schemas.microsoft.com/office/powerpoint/2010/main" val="1422853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9C39-069D-B985-6CCB-D17DBD243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Rate Versus Signal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110AE-AC00-8675-DAAC-F351DD2C4D6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formulate the relationship between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rate and signal rate as</a:t>
            </a:r>
            <a:endParaRPr lang="ar-EG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ar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ar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ar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data rate (bps); c is the case factor, which varies for each case; S is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signal elements per second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and r is the previously defined factor.</a:t>
            </a:r>
            <a:endParaRPr lang="ar-E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ar-EG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F50217-BB12-C4AE-D6CE-DC5EB47E9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743200"/>
            <a:ext cx="5024579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712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79A08-4D8F-DEB1-1232-52D6CC6F9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CEC91-82A6-1F0E-4B55-B4531F5FBC8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carrying data in which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data element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encoded as one signal element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 = 1)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If the bit rate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kbps,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is the average value of the baud rate if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is between 0 and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assume that the average value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is 1/2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baud rate is then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0E9D03-6586-CCF5-A30A-ADD587875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724562"/>
            <a:ext cx="8577363" cy="86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83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476BF-E255-B3F8-D5D7-8D59B5D7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Wandering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13CC2-2A26-F71B-22AD-10CF59C5F74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digital signal,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calculates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running average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received signal power.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average is called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incoming signal power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evaluated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against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determine the value of the data element.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long string of 0s or 1s can cause a drift in the baseline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(baseline wandering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make it difficult for the receiver to decode correctly.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line coding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 needs to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 baseline wandering. </a:t>
            </a:r>
          </a:p>
        </p:txBody>
      </p:sp>
    </p:spTree>
    <p:extLst>
      <p:ext uri="{BB962C8B-B14F-4D97-AF65-F5344CB8AC3E}">
        <p14:creationId xmlns:p14="http://schemas.microsoft.com/office/powerpoint/2010/main" val="13762650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7902D-109E-E8D0-97CE-19F2792E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36EC7-5226-A620-63B2-ABB20B887AE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153400" cy="5181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sz="2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 level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digital signal </a:t>
            </a:r>
            <a:r>
              <a:rPr lang="en-US" sz="2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remains constant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3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periods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time, there is an </a:t>
            </a:r>
            <a:r>
              <a:rPr lang="en-US" sz="2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in the low frequencies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signal. </a:t>
            </a:r>
            <a:endParaRPr lang="ar-EG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frequencies </a:t>
            </a:r>
            <a:r>
              <a:rPr lang="en-US" sz="2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around zero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called </a:t>
            </a:r>
            <a:r>
              <a:rPr lang="en-US" sz="23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DC (direct-current)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components.</a:t>
            </a:r>
            <a:endParaRPr lang="ar-EG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can </a:t>
            </a:r>
            <a:r>
              <a:rPr lang="en-US" sz="2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pass low frequencies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For example, a telephone line cannot pass frequencies below 200 Hz.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require the </a:t>
            </a:r>
            <a:r>
              <a:rPr lang="en-US" sz="23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removal of the dc component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transmitted signal. </a:t>
            </a:r>
          </a:p>
        </p:txBody>
      </p:sp>
    </p:spTree>
    <p:extLst>
      <p:ext uri="{BB962C8B-B14F-4D97-AF65-F5344CB8AC3E}">
        <p14:creationId xmlns:p14="http://schemas.microsoft.com/office/powerpoint/2010/main" val="329719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8E86B-B61E-4C99-46D4-94454AAC1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D1998-4C99-6F21-A25B-C757CACE8EE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correctly interpret the signals received from the sender,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receiver’s bit intervals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correspond exactly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sender’s bit intervals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receiver clock is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or slower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bit intervals are not matched and the receiver might misinterpret the signals.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C9CB5D-5BDA-115C-C654-ACCA262D4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922071"/>
            <a:ext cx="5867400" cy="290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1440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B61CA-1ECB-CD2B-8A5E-BEE55557B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036B9-0A43-3DF8-09B1-C8D36DDB171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Self-synchronizing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signal includes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timing information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being transmitted.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be achieved if there are transitions in the signal that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 the receiver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beginning, middle, or end of the pulse.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receiver’s clock is out of synchronization, these points can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 the clock.</a:t>
            </a:r>
          </a:p>
        </p:txBody>
      </p:sp>
    </p:spTree>
    <p:extLst>
      <p:ext uri="{BB962C8B-B14F-4D97-AF65-F5344CB8AC3E}">
        <p14:creationId xmlns:p14="http://schemas.microsoft.com/office/powerpoint/2010/main" val="16807314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DD16-D0AA-0785-CE5C-85F63EC45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14044-70B7-E2AC-7506-5D6DB09AED8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8229600" cy="493776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digital transmission, the receiver clock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 percent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than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sender clock. 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many extra bits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second does the receiver receive if the data rate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kbps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How many if the data rate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Mbps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7E6D7-3B55-CDAD-B98F-BFFDDDDAB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876800"/>
            <a:ext cx="7901528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331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B3269-473F-16AE-82B9-7DF275D5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Coding Schemes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B94E51-CE2D-F380-C36E-C650CEDF59B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457200" y="2209800"/>
            <a:ext cx="8462298" cy="2971800"/>
          </a:xfrm>
        </p:spPr>
      </p:pic>
    </p:spTree>
    <p:extLst>
      <p:ext uri="{BB962C8B-B14F-4D97-AF65-F5344CB8AC3E}">
        <p14:creationId xmlns:p14="http://schemas.microsoft.com/office/powerpoint/2010/main" val="1739254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DB76A-C6EE-D6F3-86FF-F2349013E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NRZ (Non-Return-to-Zero)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3E810-E273-83E1-2E35-CB03B9D22A8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NRZ (Non-Return-to-Zero)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Traditionally,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unipolar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 was designed as 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non-return-to-zero (NRZ)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 in which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voltage defines bit 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voltage defines bit 0. </a:t>
            </a:r>
            <a:endParaRPr lang="ar-EG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called NRZ because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signal does not return to zero at the middle of the bit.</a:t>
            </a:r>
            <a:endParaRPr lang="ar-E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ar-EG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0EE497-2E4E-A0D5-A750-C1ACE58C6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388" y="4739640"/>
            <a:ext cx="4171024" cy="19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7197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1E02-3260-3859-C16C-9B5B9DBE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 Scheme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BADB2-E84A-CC30-0567-92F2D98812F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voltages are on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sides of the time axis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 level for 0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 level for 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E52F2A-1FB5-1295-ACBF-AABA9D4AB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88080"/>
            <a:ext cx="7543800" cy="323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3889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4EAE11-F1B6-DD03-5D8B-5A677F438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3834586"/>
            <a:ext cx="5646290" cy="30234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1D9433-1697-29DA-2084-25514A020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NRZ-L (NRZ-Level)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50964-6FDA-A7DC-845D-F7B4CDF2052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082040"/>
            <a:ext cx="8229600" cy="493776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of the voltage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the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of the bit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second variation,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NRZ-I (NRZ-Invert),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or lack of change in the level of the voltage determines the value of the bit.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is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change, the bit is 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if there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change, the bit is 1.</a:t>
            </a:r>
          </a:p>
        </p:txBody>
      </p:sp>
    </p:spTree>
    <p:extLst>
      <p:ext uri="{BB962C8B-B14F-4D97-AF65-F5344CB8AC3E}">
        <p14:creationId xmlns:p14="http://schemas.microsoft.com/office/powerpoint/2010/main" val="40798720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D058-7E57-8CD5-01CA-A8EBC303E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Return-to-Zero (RZ)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28A63-757D-3F93-302C-ACBFFE55C32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problem with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NRZ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encoding occurs when the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sender and receiver clocks are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synchronized. </a:t>
            </a:r>
            <a:endParaRPr lang="ar-EG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receiver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know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one bit has ended and the next bit is starting. </a:t>
            </a:r>
            <a:endParaRPr lang="ar-E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4057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09FF8-6F8D-0DA4-E32E-5D91AA177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8F73F-FE0A-EA71-4242-3FE9BAB2A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Return-to-Zero (RZ)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3FEC1-0C81-7767-83E6-6CC54FD50D2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solution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return-to-zero (RZ) scheme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uses three values: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positive, negative, and zero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ar-E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RZ, the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changes not between bits but during the bit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46479-CFBD-6B7D-1353-C6636BCDF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427506"/>
            <a:ext cx="6019800" cy="291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095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77A3B-AEF1-7343-07D9-DBD415187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Biphase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Manchester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E19AE-A43C-B4E3-B94D-152F11B3266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1224" y="1295400"/>
            <a:ext cx="8229600" cy="493776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Manchester coding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combining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NRZ-L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RZ schemes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symbol has a level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 in the middle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from high to low or low to high. Uses only two voltage levels.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E8C9E1-FB90-D905-6329-8020736CA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700953"/>
            <a:ext cx="4800600" cy="17232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9F0A00-6EFA-1134-D225-905B4D289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071" y="3429001"/>
            <a:ext cx="5582508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7050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39D7A-78FA-E857-A4FA-99B515A16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Manchester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B7168-23F9-AA44-701A-A35B44A62D6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the ideas of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RZ and NRZ-I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always a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 at the middle of the bit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the bit values are determined at the beginning of the bit.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next bit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0, there is a transition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if the next bit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 there is none.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9E4D5E-9A1A-E2DE-602B-65EBF7F40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853347"/>
            <a:ext cx="4572000" cy="300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4529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EE756-1B65-EC0E-A619-5AB0A3619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Manchester and differential Manchester schemes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2E060-E591-0592-4C16-B063555F3CC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Manchester and differential Manchester encoding, the transition at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middle of the bit is used for synchronization.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DC component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bit has a positive and negative voltage contribution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only drawback is the signal rate.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signal rate for Manchester and differential Manchester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 that for NRZ.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reason is that there is always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transition at the middle of the bit 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 maybe one transition at the end of each bit.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5884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AAB44-E11E-30AE-1594-EA7110D31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08305-E969-379A-8920-1909AF867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Bipolar Schemes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B0767-E46A-030E-F827-B76763518BE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077200" cy="37338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Bipolar encoding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(sometimes called multilevel binary) </a:t>
            </a:r>
          </a:p>
          <a:p>
            <a:pPr lvl="1">
              <a:lnSpc>
                <a:spcPct val="110000"/>
              </a:lnSpc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voltage levels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positive, negative, and zero </a:t>
            </a:r>
          </a:p>
          <a:p>
            <a:pPr lvl="1">
              <a:lnSpc>
                <a:spcPct val="11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variations of bipolar encoding </a:t>
            </a:r>
          </a:p>
          <a:p>
            <a:pPr>
              <a:lnSpc>
                <a:spcPct val="11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AMI (alternate mark inversion) </a:t>
            </a:r>
          </a:p>
          <a:p>
            <a:pPr lvl="1">
              <a:lnSpc>
                <a:spcPct val="110000"/>
              </a:lnSpc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neutral zero voltage </a:t>
            </a:r>
          </a:p>
          <a:p>
            <a:pPr lvl="1">
              <a:lnSpc>
                <a:spcPct val="110000"/>
              </a:lnSpc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alternating positive and negative voltages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B5094C-EB43-1E67-B700-BFA7A74ED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4267200"/>
            <a:ext cx="6048418" cy="254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755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5C04A-DD0F-6FAF-825F-3C29B00C4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Bipolar Schemes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F04B3-480E-82B4-4DC3-DE95905A74E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077200" cy="3733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Pseudoternary</a:t>
            </a: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neutral zero voltage 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alternating positive and negative voltages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62EF4A-CC66-0E05-7F8E-7C96689D5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505200"/>
            <a:ext cx="6663748" cy="280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9434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1441F8E-E2E4-6C72-8A67-D42FF39CE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4343400"/>
            <a:ext cx="4501554" cy="20269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E8114F-4DD1-3C9B-963F-571EDEEB1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Bipolar Schemes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5C7AE-648E-3537-F4A0-EFD13483C4F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191000" cy="493776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DC component.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have a long sequence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1s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voltage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alternates between positive and negative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it is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constant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Therefore, there is no DC component.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long sequence of 0s, the voltage remains constant, but its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amplitude is zero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the same as having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DC component.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other words, a sequence that creates a constant zero voltage does not have a DC component.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3143C9-8D84-7B5B-24C0-11AC3AED8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776" y="2852733"/>
            <a:ext cx="4476783" cy="115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9566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Exercises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347D7-692C-3A4A-48CA-92D1A2E3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or False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67DAD-5120-3F58-7AB1-B47D9F2DB72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rate and signal rate are the same in line coding.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NRZ-L line coding, the signal level does not change during the bit interval.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Manchester encoding involves changing the voltage at the beginning of each bit.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AMI (Alternate Mark Inversion) uses only two voltage levels.</a:t>
            </a:r>
          </a:p>
          <a:p>
            <a:pPr marL="0" marR="0" indent="0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marR="0" indent="0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8008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397FD-2EC0-2B83-CE49-DBA06CBF6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3639B-D3D2-8BEE-79E9-5C962DC46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or False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84050-9073-D843-74B7-8DBEEE19A4F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 rate and signal rate are the same in line coding.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NRZ-L line coding, the signal level does not change during the bit interval.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Manchester encoding involves changing the voltage at the beginning of each bit.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 (Alternate Mark Inversion) uses only two voltage levels.</a:t>
            </a:r>
          </a:p>
          <a:p>
            <a:pPr marL="0" marR="0" indent="0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marR="0" indent="0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2452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47663-47B3-7DB6-6279-95C766AA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BB0EE-E142-0393-96A0-9A7B8ED7F04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Which line coding scheme involves changing voltage at the middle of each bit?</a:t>
            </a:r>
            <a:endParaRPr lang="en-US" sz="3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A) NRZ-L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B) Manchester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en-US" sz="3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AMI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5205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472B-8383-F5AD-FBDC-EB414E09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F55B4-6F3B-F0ED-0753-5F777EC223E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 Bipolar schemes, which of the following describes the AMI (Alternate Mark Inversion) method?</a:t>
            </a:r>
            <a:endParaRPr lang="en-US" sz="2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A) A single voltage level is used for "1" and zero voltage for "0"</a:t>
            </a: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B) Positive, zero, and negative voltage levels are used, with "1" represented by alternating polarities</a:t>
            </a: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C) Each bit interval has a transition to synchronize the signal</a:t>
            </a: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D) Voltage always returns to zero during each bit interval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8790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2C1A7-740C-4E72-E111-F0509DD4B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477BA-5849-969A-0819-629DC890232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Which of the following is NOT a characteristic of line coding?</a:t>
            </a:r>
            <a:endParaRPr lang="en-US" sz="2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A) Baseline wandering</a:t>
            </a: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B) Self-synchronization</a:t>
            </a: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C) Signal distortion</a:t>
            </a: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D) DC component</a:t>
            </a:r>
          </a:p>
        </p:txBody>
      </p:sp>
    </p:spTree>
    <p:extLst>
      <p:ext uri="{BB962C8B-B14F-4D97-AF65-F5344CB8AC3E}">
        <p14:creationId xmlns:p14="http://schemas.microsoft.com/office/powerpoint/2010/main" val="29620188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F0F1C-5DFD-A770-F9AB-D23E027DA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28DCA-CB1D-F3AB-F8F6-CF97E7D34C4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Which of the following issues can affect transmission in systems that cannot pass low frequencies?</a:t>
            </a:r>
            <a:endParaRPr lang="en-US" sz="2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A) Baseline wandering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B) DC component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C) Signal rate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D) Synchronization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505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Task </a:t>
            </a:r>
          </a:p>
        </p:txBody>
      </p:sp>
    </p:spTree>
    <p:extLst>
      <p:ext uri="{BB962C8B-B14F-4D97-AF65-F5344CB8AC3E}">
        <p14:creationId xmlns:p14="http://schemas.microsoft.com/office/powerpoint/2010/main" val="6938639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0E82C-BB7E-8FF2-11E4-CBB7F3CA4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04889-E4A7-004A-6CBE-8BD9C46A832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200000"/>
              </a:lnSpc>
              <a:spcBef>
                <a:spcPts val="0"/>
              </a:spcBef>
              <a:buClrTx/>
              <a:buSzTx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Unipolar, Polar, and Bipolar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in terms of 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ClrTx/>
              <a:buSzTx/>
              <a:defRPr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Schema, 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ClrTx/>
              <a:buSzTx/>
              <a:defRPr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Bandwidth, 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ClrTx/>
              <a:buSzTx/>
              <a:defRPr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DC components, 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ClrTx/>
              <a:buSzTx/>
              <a:defRPr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2470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Practical</a:t>
            </a:r>
          </a:p>
        </p:txBody>
      </p:sp>
    </p:spTree>
    <p:extLst>
      <p:ext uri="{BB962C8B-B14F-4D97-AF65-F5344CB8AC3E}">
        <p14:creationId xmlns:p14="http://schemas.microsoft.com/office/powerpoint/2010/main" val="19179946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1AAD5-B957-5ADF-30D2-936D5D673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Digital Data Line Coding Simulator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36FD1-7B1B-07C5-E089-322F9036D20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Python project will simulate the encoding of binary data using various line coding schemes (e.g., NRZ, RZ, Manchester). The user will input a binary string, select a coding scheme, and the program will display the corresponding signal representation.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0973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7374</TotalTime>
  <Words>2021</Words>
  <Application>Microsoft Office PowerPoint</Application>
  <PresentationFormat>On-screen Show (4:3)</PresentationFormat>
  <Paragraphs>196</Paragraphs>
  <Slides>50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0" baseType="lpstr">
      <vt:lpstr>Aptos</vt:lpstr>
      <vt:lpstr>Arial</vt:lpstr>
      <vt:lpstr>Bookman Old Style</vt:lpstr>
      <vt:lpstr>Calibri</vt:lpstr>
      <vt:lpstr>Gill Sans MT</vt:lpstr>
      <vt:lpstr>Symbol</vt:lpstr>
      <vt:lpstr>Times New Roman</vt:lpstr>
      <vt:lpstr>Wingdings</vt:lpstr>
      <vt:lpstr>Wingdings 3</vt:lpstr>
      <vt:lpstr>Origin</vt:lpstr>
      <vt:lpstr>Chapter 4:Digital Transmission</vt:lpstr>
      <vt:lpstr>Revision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DIGITAL-TO-DIGITAL CONVERSION</vt:lpstr>
      <vt:lpstr>Line Coding</vt:lpstr>
      <vt:lpstr>Line Coding: Characteristics</vt:lpstr>
      <vt:lpstr>Signal Element Versus Data Element</vt:lpstr>
      <vt:lpstr>Example</vt:lpstr>
      <vt:lpstr>Signal Element Versus Data Element</vt:lpstr>
      <vt:lpstr>Data Rate Versus Signal Rate</vt:lpstr>
      <vt:lpstr>Data Rate Versus Signal Rate</vt:lpstr>
      <vt:lpstr>Data Rate Versus Signal Rate</vt:lpstr>
      <vt:lpstr>Example</vt:lpstr>
      <vt:lpstr>Baseline Wandering</vt:lpstr>
      <vt:lpstr>DC component</vt:lpstr>
      <vt:lpstr>Self-synchronization</vt:lpstr>
      <vt:lpstr>Self-synchronization</vt:lpstr>
      <vt:lpstr>Example</vt:lpstr>
      <vt:lpstr>Line Coding Schemes</vt:lpstr>
      <vt:lpstr>NRZ (Non-Return-to-Zero)</vt:lpstr>
      <vt:lpstr>Polar Scheme </vt:lpstr>
      <vt:lpstr>NRZ-L (NRZ-Level)</vt:lpstr>
      <vt:lpstr>Return-to-Zero (RZ)</vt:lpstr>
      <vt:lpstr>Return-to-Zero (RZ)</vt:lpstr>
      <vt:lpstr>Biphase: Manchester</vt:lpstr>
      <vt:lpstr>Differential Manchester</vt:lpstr>
      <vt:lpstr>Manchester and differential Manchester schemes</vt:lpstr>
      <vt:lpstr>Bipolar Schemes </vt:lpstr>
      <vt:lpstr>Bipolar Schemes </vt:lpstr>
      <vt:lpstr>Bipolar Schemes </vt:lpstr>
      <vt:lpstr>Exercises </vt:lpstr>
      <vt:lpstr>True or False</vt:lpstr>
      <vt:lpstr>True or False</vt:lpstr>
      <vt:lpstr>PowerPoint Presentation</vt:lpstr>
      <vt:lpstr>PowerPoint Presentation</vt:lpstr>
      <vt:lpstr>PowerPoint Presentation</vt:lpstr>
      <vt:lpstr>PowerPoint Presentation</vt:lpstr>
      <vt:lpstr>Task </vt:lpstr>
      <vt:lpstr>PowerPoint Presentation</vt:lpstr>
      <vt:lpstr>Practical</vt:lpstr>
      <vt:lpstr>Project Title: Digital Data Line Coding Simulator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Marwa Fekry</dc:creator>
  <cp:lastModifiedBy>Dr. Marwa Fikry</cp:lastModifiedBy>
  <cp:revision>134</cp:revision>
  <dcterms:created xsi:type="dcterms:W3CDTF">2006-08-16T00:00:00Z</dcterms:created>
  <dcterms:modified xsi:type="dcterms:W3CDTF">2024-11-05T03:04:01Z</dcterms:modified>
</cp:coreProperties>
</file>