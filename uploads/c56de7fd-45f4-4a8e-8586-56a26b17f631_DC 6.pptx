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55"/>
  </p:notesMasterIdLst>
  <p:sldIdLst>
    <p:sldId id="256" r:id="rId2"/>
    <p:sldId id="463" r:id="rId3"/>
    <p:sldId id="541" r:id="rId4"/>
    <p:sldId id="572" r:id="rId5"/>
    <p:sldId id="550" r:id="rId6"/>
    <p:sldId id="425" r:id="rId7"/>
    <p:sldId id="466" r:id="rId8"/>
    <p:sldId id="421" r:id="rId9"/>
    <p:sldId id="499" r:id="rId10"/>
    <p:sldId id="502" r:id="rId11"/>
    <p:sldId id="412" r:id="rId12"/>
    <p:sldId id="542" r:id="rId13"/>
    <p:sldId id="555" r:id="rId14"/>
    <p:sldId id="546" r:id="rId15"/>
    <p:sldId id="548" r:id="rId16"/>
    <p:sldId id="549" r:id="rId17"/>
    <p:sldId id="552" r:id="rId18"/>
    <p:sldId id="553" r:id="rId19"/>
    <p:sldId id="554" r:id="rId20"/>
    <p:sldId id="556" r:id="rId21"/>
    <p:sldId id="557" r:id="rId22"/>
    <p:sldId id="558" r:id="rId23"/>
    <p:sldId id="569" r:id="rId24"/>
    <p:sldId id="559" r:id="rId25"/>
    <p:sldId id="570" r:id="rId26"/>
    <p:sldId id="571" r:id="rId27"/>
    <p:sldId id="560" r:id="rId28"/>
    <p:sldId id="574" r:id="rId29"/>
    <p:sldId id="561" r:id="rId30"/>
    <p:sldId id="562" r:id="rId31"/>
    <p:sldId id="563" r:id="rId32"/>
    <p:sldId id="575" r:id="rId33"/>
    <p:sldId id="576" r:id="rId34"/>
    <p:sldId id="564" r:id="rId35"/>
    <p:sldId id="588" r:id="rId36"/>
    <p:sldId id="565" r:id="rId37"/>
    <p:sldId id="578" r:id="rId38"/>
    <p:sldId id="579" r:id="rId39"/>
    <p:sldId id="580" r:id="rId40"/>
    <p:sldId id="581" r:id="rId41"/>
    <p:sldId id="583" r:id="rId42"/>
    <p:sldId id="290" r:id="rId43"/>
    <p:sldId id="416" r:id="rId44"/>
    <p:sldId id="586" r:id="rId45"/>
    <p:sldId id="543" r:id="rId46"/>
    <p:sldId id="584" r:id="rId47"/>
    <p:sldId id="585" r:id="rId48"/>
    <p:sldId id="587" r:id="rId49"/>
    <p:sldId id="401" r:id="rId50"/>
    <p:sldId id="544" r:id="rId51"/>
    <p:sldId id="403" r:id="rId52"/>
    <p:sldId id="545" r:id="rId53"/>
    <p:sldId id="582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2" autoAdjust="0"/>
    <p:restoredTop sz="89334" autoAdjust="0"/>
  </p:normalViewPr>
  <p:slideViewPr>
    <p:cSldViewPr>
      <p:cViewPr varScale="1">
        <p:scale>
          <a:sx n="80" d="100"/>
          <a:sy n="80" d="100"/>
        </p:scale>
        <p:origin x="93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C8AE7-6413-4430-9123-6C2E9B1CD732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42BE2-83AA-45C7-88D2-6BE654433A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7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73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carrier signal coming from an oscillator. When the amplitude of the NRZ signal is 1, the amplitude of the carrier frequency is held; when the amplitude of the NRZ signal is 0, the amplitude of the carrier frequency is zero.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80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71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3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535F-378E-D89D-5B07-3E4765CF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0C2B3-AEE0-5668-1C14-DE9C2B6C6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87CF2-6B8F-E54E-3886-55FE7841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59D67-FB39-A455-17AF-071098976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Answer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0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Answer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88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Answer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98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b="1" dirty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89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83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9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21A8-0EE2-44DC-80A0-A0237E09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733800"/>
            <a:ext cx="7620000" cy="12192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Chapter 5: 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Transmission</a:t>
            </a:r>
          </a:p>
        </p:txBody>
      </p:sp>
    </p:spTree>
    <p:extLst>
      <p:ext uri="{BB962C8B-B14F-4D97-AF65-F5344CB8AC3E}">
        <p14:creationId xmlns:p14="http://schemas.microsoft.com/office/powerpoint/2010/main" val="480470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Midterm Solution</a:t>
            </a:r>
          </a:p>
        </p:txBody>
      </p:sp>
    </p:spTree>
    <p:extLst>
      <p:ext uri="{BB962C8B-B14F-4D97-AF65-F5344CB8AC3E}">
        <p14:creationId xmlns:p14="http://schemas.microsoft.com/office/powerpoint/2010/main" val="346297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5AD775-3F80-8DF7-C743-6E451203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4" y="533400"/>
            <a:ext cx="9030416" cy="49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96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22EFF5-7755-46DD-ACE8-BC12E5876D6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47801"/>
            <a:ext cx="8419042" cy="4381338"/>
          </a:xfrm>
        </p:spPr>
      </p:pic>
    </p:spTree>
    <p:extLst>
      <p:ext uri="{BB962C8B-B14F-4D97-AF65-F5344CB8AC3E}">
        <p14:creationId xmlns:p14="http://schemas.microsoft.com/office/powerpoint/2010/main" val="268748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058D-3E9A-F314-C822-B18E3361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F3E9D4-D66A-D470-F6C5-9F401D7D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Revision</a:t>
            </a:r>
          </a:p>
        </p:txBody>
      </p:sp>
    </p:spTree>
    <p:extLst>
      <p:ext uri="{BB962C8B-B14F-4D97-AF65-F5344CB8AC3E}">
        <p14:creationId xmlns:p14="http://schemas.microsoft.com/office/powerpoint/2010/main" val="80218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FB3B-06E8-BB85-5A9B-26445685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A047D-B323-D110-26FA-ECDBFBA41F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sine wave can be represented by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signal is the </a:t>
            </a:r>
            <a:r>
              <a:rPr lang="en-US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absolute value of its highest intensity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proportional to the </a:t>
            </a:r>
            <a:r>
              <a:rPr lang="en-US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it carries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</a:t>
            </a:r>
            <a:r>
              <a:rPr lang="en-US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periods in 1 s.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describes the 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of the waveform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to 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0.</a:t>
            </a:r>
          </a:p>
          <a:p>
            <a:pPr lvl="1">
              <a:lnSpc>
                <a:spcPct val="150000"/>
              </a:lnSpc>
            </a:pPr>
            <a:endParaRPr lang="en-US" sz="2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8DBDF-905D-3BDF-8BDF-C303842D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105400"/>
            <a:ext cx="5638800" cy="14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2FE0-9448-4F3E-4094-4FA3431BC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digital signals: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with two signal levels and the other with four signal levels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EE5AA-3AF3-4E76-96F9-BFC66B19554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76400" y="1162897"/>
            <a:ext cx="6319908" cy="5542703"/>
          </a:xfrm>
        </p:spPr>
      </p:pic>
    </p:spTree>
    <p:extLst>
      <p:ext uri="{BB962C8B-B14F-4D97-AF65-F5344CB8AC3E}">
        <p14:creationId xmlns:p14="http://schemas.microsoft.com/office/powerpoint/2010/main" val="385530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0440-8041-5BC7-6321-36947F5F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F57C5-4B0B-5736-1DDE-B9B5596985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signal has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eight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 many bits are needed per level?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signal level is represented by 3 bits.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3C6D3-8B79-BCA4-3845-4F389C89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14600"/>
            <a:ext cx="7089566" cy="1123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740767-D3BE-B8F4-1556-C13BD3743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895704"/>
            <a:ext cx="2438418" cy="280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44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969D-574A-6E36-FFBB-91A73125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Versus Data Element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EF8D-5926-2FEA-11C1-5A6E1F6823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smallest entity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a piece of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signal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unit (timewise)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elements are what we need to send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are what we can send.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being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03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99EA-B928-A971-E9E6-5F9FE7AF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74F3-077D-8180-24D8-E2A74E5E8D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3058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data elements (bits) sent in 1s.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 is bits per second (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is sometimes called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rate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sent in 1s.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 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rate is sometimes called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347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F54-3229-5990-2101-308A3B9F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24B9D-2154-AC27-BF4C-5EE4A07B15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CONVERSION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Shift Keying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Shift Keying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Shift Keying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Quadrature Amplitude Modulation (QAM)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1FBE-0ABD-1CAF-C6F7-2763E972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D33C-2C8F-2A88-D538-23B76A1DC2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905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conversion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changing one of the characteristics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analog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information in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961DE-BFC8-24E8-6760-B59E89B81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18" y="3657600"/>
            <a:ext cx="816398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5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6A3B-86D1-05F6-95A3-5D4D2227F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Signal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93D3-A6DA-8486-917B-C9D45E67CBC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143000"/>
            <a:ext cx="8153400" cy="37338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 device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acts as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information signal.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base signal is called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signal or carrier frequency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receiving device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tuned to the frequency of the carrier signal that it expects from the sender.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the carrier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modifying one or more of its characteristics (amplitude, frequency, or phase).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modification is called modulation (shift keying).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A81B0-6893-BD97-8259-7BA2AB486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4614334"/>
            <a:ext cx="3124200" cy="209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85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F1C8-69AC-E626-6117-8DAB40D2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BB380-91B9-2BB7-0D81-F9A0AEA7EF6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 is defined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characteristics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amplitude, frequency, and phase.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vary any one of these characteristics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create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different version of that wave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by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one characteristic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simple electric signal, we can use it 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digital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774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54ED-CDAC-BC12-1B7A-C2AE8C33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7E93-FF8D-8DEC-69B2-929B16F7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digital-to-analog conversion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9D4E4F-FB2B-A027-38DE-B991CF0B820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2286000"/>
            <a:ext cx="7577165" cy="2760673"/>
          </a:xfrm>
        </p:spPr>
      </p:pic>
    </p:spTree>
    <p:extLst>
      <p:ext uri="{BB962C8B-B14F-4D97-AF65-F5344CB8AC3E}">
        <p14:creationId xmlns:p14="http://schemas.microsoft.com/office/powerpoint/2010/main" val="65526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6C71-11EF-5585-7330-289D5983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Aspects of Digital-to-Analog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0B3A-3B3A-FECF-D6B0-B36EEA4BB1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smallest piece of information to be exchanged,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smallest unit of a signal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 per second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signal elements per second.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transmission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digital data,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baud rate is less than or equal to the bit rate.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1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28C4-52DA-FE31-1922-9AFF01CC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3B41-313E-C1DF-50B2-E6E8626626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N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is the data rate (bps)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number of data elements carried in one signal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in analog transmission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log</a:t>
            </a:r>
            <a:r>
              <a:rPr lang="en-US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L,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 is the number of different signal elements.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analogous 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vehicle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analogous 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passenger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people per car to reduce the traffic.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1298C-0D09-8E00-2735-51DDD0E76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52599"/>
            <a:ext cx="28956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1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BAC8-59E6-B4D7-5213-9C0FA239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E190-2CC3-A7AC-37AE-72DAF80328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signal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bits per signal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signal 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sent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second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find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 =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= 1000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 is unknown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can find the value of N from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B5F24-A93C-FEC6-B88F-144FA3DF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00600"/>
            <a:ext cx="7946335" cy="64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1861-4567-E750-38B2-C09DEEBD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915A-EB7F-CDA2-5355-3A866A60C0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bit rate of 8000 bps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baud rate of 1000 baud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data elements are carried by each signal element? How many signal elements do we need?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1000, N = 8000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and 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unknown. We first find the value of r and then the value of L.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536B3-F57F-0242-5613-C89DD3608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638800"/>
            <a:ext cx="6485972" cy="93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30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9FC7-0669-6806-F086-366506D5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Shift Keying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1294-104B-4020-15B5-9475B11200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 shift keying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 of the carrier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is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signal elements.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and phase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 changes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2695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0F80-F4BA-40A2-483F-CB3E9AE1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ASK (BASK)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E6B8-5122-962D-E4C3-98EA400221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93776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we can have several levels (kinds) of signal elements, each with a different amplitude,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normally implemented using only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referred to 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amplitude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keying 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on-off keying (OOK).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peak amplitude of one signal level is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other is the same as the amplitude of the carrier frequency.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A78E4-A81A-4E25-AB4D-44F60A5B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446526"/>
            <a:ext cx="5562600" cy="241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87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B67F-3002-CE76-B774-51661A90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for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3BA02-9843-E87F-3A75-00A33A3ADE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expressed as shown, where S is the signal</a:t>
            </a:r>
            <a:r>
              <a:rPr lang="ar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and the B is the bandwidth.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normally another factor involved,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depends on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modulation and filtering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d is between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and 1.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80E13-2BBF-5967-DF09-FB185910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124200"/>
            <a:ext cx="2895600" cy="738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776DD0-34CB-6B91-60D4-9BFC1B7E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362200"/>
            <a:ext cx="2286000" cy="194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3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3E72-C14C-02B7-28C7-2B7CDD97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binary 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5AB728-2B52-4101-EA57-041D5E75EF9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57200" y="2133600"/>
            <a:ext cx="8229600" cy="2962285"/>
          </a:xfrm>
        </p:spPr>
      </p:pic>
    </p:spTree>
    <p:extLst>
      <p:ext uri="{BB962C8B-B14F-4D97-AF65-F5344CB8AC3E}">
        <p14:creationId xmlns:p14="http://schemas.microsoft.com/office/powerpoint/2010/main" val="309896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55AD-DB2C-04EF-4C5E-A5DACA0F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C07FB-64FB-7436-FDD2-6E9684CED3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an available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100 kHz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spans from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to 300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are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modulated our data by using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 =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of the bandwidth is located 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our carrier frequency can be 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250 kHz.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the formula for bandwidth to find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bit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 1 and r =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B35D4-44E6-ACAC-75C9-9CA4A0E6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19800"/>
            <a:ext cx="8204841" cy="5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30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75B6-4450-B0EA-925C-99EE4E83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99D0-E437-1886-99B1-C1A1EFA78B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communications, we normally use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full-duplex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links with communication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both directions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divide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into two with two carrier frequencies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shown in Figure 5.5.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 shows the positions of two carrier frequencies and the bandwidths.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available bandwidth for each direction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now 50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leaves us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rate of 25 kbps in each direction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317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7AF6-57DD-8097-ADC3-87AE4D2AF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full-duplex ASK used in 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3F3BB8-439E-DC1B-E60C-C5628429EAE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05000" y="2104260"/>
            <a:ext cx="5562600" cy="249707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81B22-FBBF-897D-23A3-9EE96B35A98D}"/>
              </a:ext>
            </a:extLst>
          </p:cNvPr>
          <p:cNvSpPr txBox="1"/>
          <p:nvPr/>
        </p:nvSpPr>
        <p:spPr>
          <a:xfrm>
            <a:off x="2819400" y="48006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= 2 * N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25</a:t>
            </a:r>
          </a:p>
        </p:txBody>
      </p:sp>
    </p:spTree>
    <p:extLst>
      <p:ext uri="{BB962C8B-B14F-4D97-AF65-F5344CB8AC3E}">
        <p14:creationId xmlns:p14="http://schemas.microsoft.com/office/powerpoint/2010/main" val="508309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1FFD-024E-0507-0421-ADD3DBA0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Shift Keying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C311-CA1E-41AB-F23D-7CA02AD6679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shift keying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carrier signal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data.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modulated signal is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duration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signal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signal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 changes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 and phase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signal elements.</a:t>
            </a:r>
          </a:p>
        </p:txBody>
      </p:sp>
    </p:spTree>
    <p:extLst>
      <p:ext uri="{BB962C8B-B14F-4D97-AF65-F5344CB8AC3E}">
        <p14:creationId xmlns:p14="http://schemas.microsoft.com/office/powerpoint/2010/main" val="1555275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B089-CF94-2943-4E5B-D5D5AF26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FSK (BFSK)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7EA5B3-A9A2-9587-0898-A27615B53D7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1828800"/>
            <a:ext cx="7239000" cy="384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6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08DE-E21E-44FA-63B4-1D20C905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FSK (BFSK)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B7E3-8EEF-0ED3-162A-DAB3F5E901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772400" cy="5029200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to think about binary FSK (or BFSK) is to consider two carrier frequencies. 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selected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carrier frequencies, f1 and f2.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carrier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element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we use the second if the data element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the carrier frequencies are very high, and the difference between them is very small.</a:t>
            </a:r>
          </a:p>
        </p:txBody>
      </p:sp>
    </p:spTree>
    <p:extLst>
      <p:ext uri="{BB962C8B-B14F-4D97-AF65-F5344CB8AC3E}">
        <p14:creationId xmlns:p14="http://schemas.microsoft.com/office/powerpoint/2010/main" val="1447264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ABD5-CD86-1C81-A99E-1A4673FD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for BFSK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65B4-B348-4B47-2CF9-62FAD7F861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think of FSK as two ASK signals, each with its own carrier frequency (f1 or f2).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difference between the two frequencies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2Δf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required bandwidth is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42CC40-7FD8-F7B7-8EE8-A6989C7E8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1" y="4282683"/>
            <a:ext cx="3578089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2D3A2-B2C1-6F34-C0E8-A221C72A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753" y="3188187"/>
            <a:ext cx="3657600" cy="351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88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680B-222D-A5DA-E32C-F3ACF152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76712-34AA-9028-00B5-79529CE9CF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an available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100 kHz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spans from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to 300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kHz. What should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carrier frequency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modulated our data by using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05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4A9D-E3B0-4C4D-1F1F-D4B354D5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95B3-4452-C515-5160-A3564010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7917D-33A6-AFB8-89EE-25A0F198B0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band is 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choose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2Δf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means.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8AEA3-60D1-06EC-A491-1E49454A2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19400"/>
            <a:ext cx="8049840" cy="381000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27A4717-A635-385D-68FB-7AF6C02A2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3519205"/>
            <a:ext cx="6324600" cy="283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8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CB32-444E-926E-CDCC-CE8AB008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BF10F-8523-7148-C23E-93C23053C7E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27318" y="2438400"/>
            <a:ext cx="7956724" cy="2590800"/>
          </a:xfrm>
        </p:spPr>
      </p:pic>
    </p:spTree>
    <p:extLst>
      <p:ext uri="{BB962C8B-B14F-4D97-AF65-F5344CB8AC3E}">
        <p14:creationId xmlns:p14="http://schemas.microsoft.com/office/powerpoint/2010/main" val="1552153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70C9-0A03-6162-B9C0-91A737ED4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Shift Keying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8D229-FB38-0AF2-EBF8-207512114C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shift keying,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carrier is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two or more different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 and frequency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phase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common than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or FSK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However, we will see shortly that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combines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and PSK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dominant method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modulation. </a:t>
            </a:r>
          </a:p>
        </p:txBody>
      </p:sp>
    </p:spTree>
    <p:extLst>
      <p:ext uri="{BB962C8B-B14F-4D97-AF65-F5344CB8AC3E}">
        <p14:creationId xmlns:p14="http://schemas.microsoft.com/office/powerpoint/2010/main" val="3406169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E43D-BD48-DAC1-1B88-0A3C859E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Shift Keying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F440-AF02-F1BC-4EF9-12B8330621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2-PSK or Binary PSK (BPSK)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different phases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(usually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and 180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each representing 1 bit of data =&gt; N = S 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4-PSK or Quad PSK (QPSK)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different phases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45, -45, 135, and -135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each representing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bits of data =&gt; N = 2 S</a:t>
            </a:r>
          </a:p>
        </p:txBody>
      </p:sp>
    </p:spTree>
    <p:extLst>
      <p:ext uri="{BB962C8B-B14F-4D97-AF65-F5344CB8AC3E}">
        <p14:creationId xmlns:p14="http://schemas.microsoft.com/office/powerpoint/2010/main" val="1551682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91DB-3A08-E2D2-908D-3B2585E7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PSK (BPSK)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2F71-AEA5-E744-5EBD-78C7B9BA22E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PSK is binary PSK, in which we have only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signal 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one with 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of 0°,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other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phase of 180°.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EAACF-6E9F-3EA5-4A44-CEBB862B8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" y="3720951"/>
            <a:ext cx="5820921" cy="2667000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002B296-7224-1DD8-0577-6069ACE4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227" y="3720951"/>
            <a:ext cx="288471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04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5DA8-F449-8279-2E3B-CEAB4B56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BASK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4960C4-A4D2-C05D-AE90-A1F84586887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8600" y="2590800"/>
            <a:ext cx="8458200" cy="2743784"/>
          </a:xfrm>
        </p:spPr>
      </p:pic>
    </p:spTree>
    <p:extLst>
      <p:ext uri="{BB962C8B-B14F-4D97-AF65-F5344CB8AC3E}">
        <p14:creationId xmlns:p14="http://schemas.microsoft.com/office/powerpoint/2010/main" val="3564937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2338-57E0-5E7F-F672-4D1BD572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QPSK and its 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FDEEC-BBD5-2CFC-9E50-76A0D5D592E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1295400"/>
            <a:ext cx="7467600" cy="5178996"/>
          </a:xfrm>
        </p:spPr>
      </p:pic>
    </p:spTree>
    <p:extLst>
      <p:ext uri="{BB962C8B-B14F-4D97-AF65-F5344CB8AC3E}">
        <p14:creationId xmlns:p14="http://schemas.microsoft.com/office/powerpoint/2010/main" val="1454763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3341-006D-8982-941D-571B7B32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AC1A-931F-9013-A25D-CD6F9877E6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signal transmitting 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Mbps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QPSK. The value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 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QPSK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bits is carried by one signal element. This means that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2.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signal rate (baud rate)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 = N × (1/r) = 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value of d = 0, we have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S =6MHz. </a:t>
            </a:r>
          </a:p>
        </p:txBody>
      </p:sp>
    </p:spTree>
    <p:extLst>
      <p:ext uri="{BB962C8B-B14F-4D97-AF65-F5344CB8AC3E}">
        <p14:creationId xmlns:p14="http://schemas.microsoft.com/office/powerpoint/2010/main" val="39371789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CA0C-210C-0B1B-E35A-5DB4429D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Quadrature Amplitude Modulation (QAM)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43BB3-619A-A1F3-81BD-8FE6EA630F9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QAM: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varying both the peak amplitude and the phase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carrier signal to represent binary combination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each bit duration, the phase and amplitude remain constant.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Theoretically, any number of measurable changes in phase and amplitude can be combined 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several variations in the signal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phase shifts is always greater than the amplitude shifts. Why?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greater the ratio of phase to amplitude shifts, the better the noise immunity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QAM spectrum and bandwidth requirements are similar to ASK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Quadrature amplitude modulation is a combination of ASK and PSK.</a:t>
            </a:r>
          </a:p>
        </p:txBody>
      </p:sp>
    </p:spTree>
    <p:extLst>
      <p:ext uri="{BB962C8B-B14F-4D97-AF65-F5344CB8AC3E}">
        <p14:creationId xmlns:p14="http://schemas.microsoft.com/office/powerpoint/2010/main" val="3558284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9A82CA-E621-D648-579D-E5583565A1F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533400"/>
            <a:ext cx="8153400" cy="5600925"/>
          </a:xfrm>
        </p:spPr>
      </p:pic>
    </p:spTree>
    <p:extLst>
      <p:ext uri="{BB962C8B-B14F-4D97-AF65-F5344CB8AC3E}">
        <p14:creationId xmlns:p14="http://schemas.microsoft.com/office/powerpoint/2010/main" val="785680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Exercises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47D7-692C-3A4A-48CA-92D1A2E3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67DAD-5120-3F58-7AB1-B47D9F2DB7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latin typeface="Times New Roman" panose="02020603050405020304" pitchFamily="18" charset="0"/>
                <a:cs typeface="Arial" panose="020B0604020202020204" pitchFamily="34" charset="0"/>
              </a:rPr>
              <a:t>The bit rate is always equal to the baud rate.</a:t>
            </a:r>
            <a:br>
              <a:rPr lang="en-US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BPSK uses two phases: 0° for one binary state and 180° for the other.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Noise affects the amplitude of a signal more than its phase.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800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F631-991A-98F0-CF7E-2831E66D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8554-407E-8199-F979-21F23485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66F9-EF32-4913-E39A-4EA7F92092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bit rate is always equal to the baud rate.</a:t>
            </a:r>
            <a:br>
              <a:rPr lang="en-US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BPSK uses two phases: 0° for one binary state and 180° for the other.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Noise affects the amplitude of a signal more than its phase.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59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6CA4-9F40-FEA5-D0E5-B2A09C2A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3520-8F9F-48B4-81D2-204F0AFD91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characteristics can be altered in digital-to-analog conversion?</a:t>
            </a:r>
            <a:b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Amplitude, Phase, Frequency</a:t>
            </a:r>
            <a:b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Speed, Bandwidth, Noise</a:t>
            </a:r>
            <a:b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Voltage, Current, Resistance</a:t>
            </a:r>
            <a:b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Data rate, Signal rate, Carrier frequency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12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25337-C90E-8ED9-59D8-6DCCA3EE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FF4C2-9EFC-CC37-7DF7-D1496C96CD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modulation technique uses two carrier frequencies for binary representation?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FSK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PSK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QAM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19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42CB-524A-1A51-E2DA-4E7CF083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6D24-4B26-17C1-8CC2-79A29DA4D1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Quadrature Amplitude Modulation (QAM) is a combination of: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a) ASK and FSK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b) PSK and FSK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c) ASK and PSK</a:t>
            </a:r>
            <a:b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d) PSK and amplitude modulation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839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311F-DE0F-1A97-AF0B-C426C69A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D1F07-F9D9-5357-4769-E3630340CA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ASK, if d=0, the bandwidth is equal to: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2×S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S+d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1+S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900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Task </a:t>
            </a:r>
          </a:p>
        </p:txBody>
      </p:sp>
    </p:spTree>
    <p:extLst>
      <p:ext uri="{BB962C8B-B14F-4D97-AF65-F5344CB8AC3E}">
        <p14:creationId xmlns:p14="http://schemas.microsoft.com/office/powerpoint/2010/main" val="693863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6618-AEC3-DF16-44B0-CBE58D3E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62283-94FE-7523-5BD0-78B27CB01EF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spectral efficiency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ASK, FSK, and PSK.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is more efficient and why?</a:t>
            </a:r>
          </a:p>
        </p:txBody>
      </p:sp>
    </p:spTree>
    <p:extLst>
      <p:ext uri="{BB962C8B-B14F-4D97-AF65-F5344CB8AC3E}">
        <p14:creationId xmlns:p14="http://schemas.microsoft.com/office/powerpoint/2010/main" val="511155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Practical</a:t>
            </a:r>
          </a:p>
        </p:txBody>
      </p:sp>
    </p:spTree>
    <p:extLst>
      <p:ext uri="{BB962C8B-B14F-4D97-AF65-F5344CB8AC3E}">
        <p14:creationId xmlns:p14="http://schemas.microsoft.com/office/powerpoint/2010/main" val="1917994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B958-A8EB-D117-31D4-3FA9F5C5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Digital-to-Analog Modulation Simulator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9070-0542-0A4D-80B0-29D5EB5760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Amplitude Shift Keying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Frequency Shift Keying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Phase Shift Keying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modulated signals based on given digital input.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47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3587-AE76-B9F6-90E1-BEE30AC2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F4E27-BF61-FB57-6827-5E5CA62784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digital data stream (e.g., [1, 0, 1, 1, 0]).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 Techniques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Varies the amplitude of the carrier signal based on the data bit.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two different carrier frequencies for binary 0 and 1.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Changes the phase of the carrier signal for binary 0 and 1.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plots of the modulated signals for each bit and technique.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88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9468</TotalTime>
  <Words>2160</Words>
  <Application>Microsoft Office PowerPoint</Application>
  <PresentationFormat>On-screen Show (4:3)</PresentationFormat>
  <Paragraphs>200</Paragraphs>
  <Slides>53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Aptos</vt:lpstr>
      <vt:lpstr>Arial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Chapter 5:   Analog Transmission</vt:lpstr>
      <vt:lpstr>Midterm Solution</vt:lpstr>
      <vt:lpstr>PowerPoint Presentation</vt:lpstr>
      <vt:lpstr>PowerPoint Presentation</vt:lpstr>
      <vt:lpstr>Revision</vt:lpstr>
      <vt:lpstr>Sine Wave </vt:lpstr>
      <vt:lpstr>Two digital signals: one with two signal levels and the other with four signal levels </vt:lpstr>
      <vt:lpstr>Example</vt:lpstr>
      <vt:lpstr>Signal Element Versus Data Element</vt:lpstr>
      <vt:lpstr>Data Rate Versus Signal Rate</vt:lpstr>
      <vt:lpstr>Agenda</vt:lpstr>
      <vt:lpstr>DIGITAL-TO-ANALOG CONVERSION</vt:lpstr>
      <vt:lpstr>Carrier Signal </vt:lpstr>
      <vt:lpstr>Sine wave</vt:lpstr>
      <vt:lpstr>Types of digital-to-analog conversion</vt:lpstr>
      <vt:lpstr>Aspects of Digital-to-Analog Conversion</vt:lpstr>
      <vt:lpstr>Data Rate Versus Signal Rate</vt:lpstr>
      <vt:lpstr>Example</vt:lpstr>
      <vt:lpstr>Example</vt:lpstr>
      <vt:lpstr>Amplitude Shift Keying</vt:lpstr>
      <vt:lpstr>Binary ASK (BASK)</vt:lpstr>
      <vt:lpstr>Bandwidth for ASK</vt:lpstr>
      <vt:lpstr>Implementation of binary ASK</vt:lpstr>
      <vt:lpstr>Example </vt:lpstr>
      <vt:lpstr>Example</vt:lpstr>
      <vt:lpstr>Bandwidth of full-duplex ASK used in Example </vt:lpstr>
      <vt:lpstr>Frequency Shift Keying</vt:lpstr>
      <vt:lpstr>Binary FSK (BFSK)</vt:lpstr>
      <vt:lpstr>Binary FSK (BFSK)</vt:lpstr>
      <vt:lpstr>Bandwidth for BFSK</vt:lpstr>
      <vt:lpstr>Example </vt:lpstr>
      <vt:lpstr>Solution </vt:lpstr>
      <vt:lpstr>Implementation</vt:lpstr>
      <vt:lpstr>Phase Shift Keying</vt:lpstr>
      <vt:lpstr>Phase Shift Keying</vt:lpstr>
      <vt:lpstr>Binary PSK (BPSK)</vt:lpstr>
      <vt:lpstr>Implementation of BASK</vt:lpstr>
      <vt:lpstr>QPSK and its implementation</vt:lpstr>
      <vt:lpstr>Example </vt:lpstr>
      <vt:lpstr>Quadrature Amplitude Modulation (QAM)</vt:lpstr>
      <vt:lpstr>PowerPoint Presentation</vt:lpstr>
      <vt:lpstr>Exercises </vt:lpstr>
      <vt:lpstr>True or False</vt:lpstr>
      <vt:lpstr>True or False</vt:lpstr>
      <vt:lpstr>PowerPoint Presentation</vt:lpstr>
      <vt:lpstr>PowerPoint Presentation</vt:lpstr>
      <vt:lpstr>PowerPoint Presentation</vt:lpstr>
      <vt:lpstr>PowerPoint Presentation</vt:lpstr>
      <vt:lpstr>Task </vt:lpstr>
      <vt:lpstr>PowerPoint Presentation</vt:lpstr>
      <vt:lpstr>Practical</vt:lpstr>
      <vt:lpstr>Project: Digital-to-Analog Modulation Simulator</vt:lpstr>
      <vt:lpstr>How It Works: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Marwa Fekry</dc:creator>
  <cp:lastModifiedBy>Dr. Marwa Fikry</cp:lastModifiedBy>
  <cp:revision>151</cp:revision>
  <dcterms:created xsi:type="dcterms:W3CDTF">2006-08-16T00:00:00Z</dcterms:created>
  <dcterms:modified xsi:type="dcterms:W3CDTF">2024-11-26T22:47:46Z</dcterms:modified>
</cp:coreProperties>
</file>